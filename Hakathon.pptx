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sldIdLst>
    <p:sldId id="256" r:id="rId2"/>
    <p:sldId id="271" r:id="rId3"/>
    <p:sldId id="257" r:id="rId4"/>
    <p:sldId id="258" r:id="rId5"/>
    <p:sldId id="259" r:id="rId6"/>
    <p:sldId id="260" r:id="rId7"/>
    <p:sldId id="273" r:id="rId8"/>
    <p:sldId id="261" r:id="rId9"/>
    <p:sldId id="262" r:id="rId10"/>
    <p:sldId id="263" r:id="rId11"/>
    <p:sldId id="264" r:id="rId12"/>
    <p:sldId id="265" r:id="rId13"/>
    <p:sldId id="266" r:id="rId14"/>
    <p:sldId id="272" r:id="rId15"/>
    <p:sldId id="274" r:id="rId16"/>
    <p:sldId id="267" r:id="rId17"/>
    <p:sldId id="268" r:id="rId18"/>
    <p:sldId id="269" r:id="rId19"/>
    <p:sldId id="275" r:id="rId20"/>
    <p:sldId id="270"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1236" y="2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vert="horz" lIns="91440" tIns="45720" rIns="91440" bIns="45720" rtlCol="0" anchor="b">
            <a:normAutofit/>
          </a:bodyPr>
          <a:lstStyle>
            <a:lvl1pPr>
              <a:defRPr lang="en-US" sz="4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vert="horz" lIns="91440" tIns="45720" rIns="91440" bIns="45720" rtlCol="0">
            <a:normAutofit/>
          </a:bodyPr>
          <a:lstStyle>
            <a:lvl1pPr marL="0" indent="0">
              <a:buNone/>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567B50E4-2343-4B20-80BE-1605C97DFB16}" type="datetime1">
              <a:rPr lang="en-US" smtClean="0"/>
              <a:t>12/31/2025</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43471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02DE44A-7CD8-4860-9BDC-2BE4C911F6D0}" type="datetime1">
              <a:rPr lang="en-US" smtClean="0"/>
              <a:t>12/31/2025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85679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vert="horz" lIns="91440" tIns="45720" rIns="91440" bIns="45720" rtlCol="0" anchor="b">
            <a:normAutofit/>
          </a:bodyPr>
          <a:lstStyle>
            <a:lvl1pPr>
              <a:defRPr lang="en-US" sz="5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E38EAEAF-D16E-446F-97F9-D23FB245CB45}" type="datetime1">
              <a:rPr lang="en-US" smtClean="0"/>
              <a:t>12/31/2025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08542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vert="horz" lIns="91440" tIns="45720" rIns="91440" bIns="45720" rtlCol="0" anchor="t">
            <a:normAutofit/>
          </a:bodyPr>
          <a:lstStyle>
            <a:lvl1pPr>
              <a:defRPr lang="en-US" sz="52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vert="horz" lIns="91440" tIns="45720" rIns="91440" bIns="45720" rtlCol="0" anchor="b">
            <a:normAutofit/>
          </a:bodyPr>
          <a:lstStyle>
            <a:lvl1pPr marL="0" indent="0">
              <a:buNone/>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96128" y="0"/>
            <a:ext cx="6595872"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a:lstStyle/>
          <a:p>
            <a:fld id="{782E7A21-5BA8-4C4C-9705-3A1EA342AD8A}" type="datetime1">
              <a:rPr lang="en-US" smtClean="0"/>
              <a:t>12/31/2025</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17997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vert="horz" lIns="91440" tIns="45720" rIns="91440" bIns="45720" rtlCol="0" anchor="t">
            <a:normAutofit/>
          </a:bodyPr>
          <a:lstStyle>
            <a:lvl1pPr>
              <a:defRPr lang="en-US" sz="7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473553"/>
            <a:ext cx="6655522" cy="1545336"/>
          </a:xfrm>
        </p:spPr>
        <p:txBody>
          <a:bodyPr vert="horz" lIns="91440" tIns="45720" rIns="91440" bIns="45720" rtlCol="0" anchor="b">
            <a:normAutofit/>
          </a:bodyPr>
          <a:lstStyle>
            <a:lvl1pPr marL="0" indent="0">
              <a:buNone/>
              <a:defRPr lang="en-US" sz="22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CBE73BE-5F1F-40EF-8F67-E3F24D65884D}" type="datetime1">
              <a:rPr lang="en-US" smtClean="0"/>
              <a:t>12/31/2025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87068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vert="horz" lIns="91440" tIns="45720" rIns="91440" bIns="45720" rtlCol="0" anchor="b">
            <a:normAutofit/>
          </a:bodyPr>
          <a:lstStyle>
            <a:lvl1pPr>
              <a:defRPr lang="en-US" sz="72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4617138"/>
            <a:ext cx="7375466" cy="1014984"/>
          </a:xfrm>
        </p:spPr>
        <p:txBody>
          <a:bodyPr vert="horz" lIns="91440" tIns="45720" rIns="91440" bIns="45720" rtlCol="0">
            <a:normAutofit/>
          </a:bodyPr>
          <a:lstStyle>
            <a:lvl1pPr marL="0" indent="0">
              <a:buNone/>
              <a:defRPr lang="en-US"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C868EF1-668D-4AD0-8652-1F3B3622EDC2}" type="datetime1">
              <a:rPr lang="en-US" smtClean="0"/>
              <a:t>12/31/2025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3942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E95609F-9B5B-4E29-8DB1-457A85E01A27}" type="datetime1">
              <a:rPr lang="en-US" smtClean="0"/>
              <a:t>12/31/2025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72735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vert="horz" lIns="91440" tIns="45720" rIns="91440" bIns="45720" rtlCol="0" anchor="b">
            <a:normAutofit/>
          </a:bodyPr>
          <a:lstStyle>
            <a:lvl1pPr>
              <a:defRPr lang="en-US" sz="7400" dirty="0"/>
            </a:lvl1pPr>
          </a:lstStyle>
          <a:p>
            <a:pPr lvl="0"/>
            <a:r>
              <a:rPr lang="en-US" dirty="0"/>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6A0DE37-B9D6-425C-B79B-6C6DFFBD0DA2}" type="datetime1">
              <a:rPr lang="en-US" smtClean="0"/>
              <a:t>12/31/2025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54231649"/>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045B0EE-4023-4E3C-8875-10AA631453CF}" type="datetime1">
              <a:rPr lang="en-US" smtClean="0"/>
              <a:t>12/31/2025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05922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rmAutofit/>
          </a:bodyPr>
          <a:lstStyle>
            <a:lvl1pPr>
              <a:defRPr sz="4000"/>
            </a:lvl1pPr>
          </a:lstStyle>
          <a:p>
            <a:r>
              <a:rPr lang="en-US" dirty="0"/>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6099048"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CE6CA204-B091-40ED-8158-331EE628B522}" type="datetime1">
              <a:rPr lang="en-US" smtClean="0"/>
              <a:t>12/31/2025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51398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3692F09-9D88-4105-92F6-7298804EAA90}" type="datetime1">
              <a:rPr lang="en-US" smtClean="0"/>
              <a:t>12/31/2025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986130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3744F96-061D-4D71-97A2-2371A43FDE7C}" type="datetime1">
              <a:rPr lang="en-US" smtClean="0"/>
              <a:t>12/31/2025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010168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C5FE133-02A7-439F-9131-2680F754099D}" type="datetime1">
              <a:rPr lang="en-US" smtClean="0"/>
              <a:t>12/31/2025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69548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91BF7DD-C7D0-4333-B18D-CCAF5427F9DD}" type="datetime1">
              <a:rPr lang="en-US" smtClean="0"/>
              <a:t>12/31/2025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579717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0415979-091A-4302-A385-56FC1CE52E32}" type="datetime1">
              <a:rPr lang="en-US" smtClean="0"/>
              <a:t>12/31/2025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489040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7836D543-476D-434F-B209-1A114B2E3F04}" type="datetime1">
              <a:rPr lang="en-US" smtClean="0"/>
              <a:t>12/31/2025</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473748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83DD0F20-7689-42E6-8664-6AA00B79F132}" type="datetime1">
              <a:rPr lang="en-US" smtClean="0"/>
              <a:t>12/31/2025</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47250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30F2F577-5BDA-4749-9F3F-0D340DC0D6A8}" type="datetime1">
              <a:rPr lang="en-US" smtClean="0"/>
              <a:t>12/31/2025</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80630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AC9378AD-A6D7-4162-BB5C-47C49B2E145B}" type="datetime1">
              <a:rPr lang="en-US" smtClean="0"/>
              <a:t>12/31/2025</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048510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tx1"/>
                </a:solidFill>
                <a:effectLst/>
              </a:defRPr>
            </a:lvl1pPr>
          </a:lstStyle>
          <a:p>
            <a:fld id="{C67B65D3-547A-48A8-9F1F-13ED0B55ACC6}" type="datetime1">
              <a:rPr lang="en-US" smtClean="0"/>
              <a:t>12/31/2025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450307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76A7CFE7-E645-4439-AA6B-DA8CF856D63E}" type="datetime1">
              <a:rPr lang="en-US" smtClean="0"/>
              <a:t>12/31/2025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1855629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a:lstStyle>
            <a:lvl1pPr>
              <a:defRPr>
                <a:solidFill>
                  <a:schemeClr val="tx1"/>
                </a:solidFill>
                <a:effectLst/>
              </a:defRPr>
            </a:lvl1pPr>
          </a:lstStyle>
          <a:p>
            <a:fld id="{E8B2C0DB-994F-48B0-91F4-5F06C3B86E32}" type="datetime1">
              <a:rPr lang="en-US" smtClean="0"/>
              <a:t>12/31/2025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301495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D3F6A089-BE3E-4BB0-98EE-FDF712FF3613}" type="datetime1">
              <a:rPr lang="en-US" smtClean="0"/>
              <a:t>12/31/2025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0794713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AC101298-AE91-4071-9C72-5A98117ABE14}" type="datetime1">
              <a:rPr lang="en-US" smtClean="0"/>
              <a:t>12/31/2025</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967392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EABE4333-790C-44CD-B503-F52418ED809A}" type="datetime1">
              <a:rPr lang="en-US" smtClean="0"/>
              <a:t>12/31/2025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749848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781365"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D2397CCD-8E49-4379-8DCB-9F17CAEDFC10}" type="datetime1">
              <a:rPr lang="en-US" smtClean="0"/>
              <a:t>12/31/2025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691507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A6146F6-C62B-441B-BAD2-D550454B4D53}" type="datetime1">
              <a:rPr lang="en-US" smtClean="0"/>
              <a:t>12/31/2025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358036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0383A68-D563-4FD5-B11F-54F8D5F1E37F}" type="datetime1">
              <a:rPr lang="en-US" smtClean="0"/>
              <a:t>12/31/2025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647497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3079730"/>
            <a:ext cx="12192000" cy="377827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p:spPr>
        <p:txBody>
          <a:bodyPr/>
          <a:lstStyle/>
          <a:p>
            <a:fld id="{3148FABB-02FF-476F-AB37-BDD0E354E780}" type="datetime1">
              <a:rPr lang="en-US" smtClean="0"/>
              <a:t>12/31/2025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012897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5" y="1828800"/>
            <a:ext cx="6172200" cy="4425696"/>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A428D3-736A-4038-886C-8BF662AA2745}" type="datetime1">
              <a:rPr lang="en-US" smtClean="0"/>
              <a:t>12/31/2025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365954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8" y="2290890"/>
            <a:ext cx="4672584" cy="4041648"/>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ED1DDEB-9B85-4E99-8A3D-ABE66C6280C3}" type="datetime1">
              <a:rPr lang="en-US" smtClean="0"/>
              <a:t>12/31/2025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0463750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4"/>
            <a:ext cx="3490176" cy="4041648"/>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7A65DCA-443F-4667-9ED1-418507CE45A8}" type="datetime1">
              <a:rPr lang="en-US" smtClean="0"/>
              <a:t>12/31/2025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4561695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94944" y="4718304"/>
            <a:ext cx="5897880" cy="1353312"/>
          </a:xfrm>
        </p:spPr>
        <p:txBody>
          <a:bodyPr vert="horz" lIns="91440" tIns="45720" rIns="91440" bIns="45720" rtlCol="0" anchor="t">
            <a:normAutofit/>
          </a:bodyPr>
          <a:lstStyle>
            <a:lvl1pPr>
              <a:lnSpc>
                <a:spcPct val="120000"/>
              </a:lnSpc>
              <a:defRPr lang="en-US" sz="2800" b="0" dirty="0">
                <a:solidFill>
                  <a:schemeClr val="accent1">
                    <a:lumMod val="75000"/>
                  </a:schemeClr>
                </a:solidFill>
                <a:latin typeface="+mn-lt"/>
              </a:defRPr>
            </a:lvl1pPr>
          </a:lstStyle>
          <a:p>
            <a:pPr lvl="0"/>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39496" y="603503"/>
            <a:ext cx="10826496" cy="4334256"/>
          </a:xfrm>
        </p:spPr>
        <p:txBody>
          <a:bodyPr vert="horz" lIns="91440" tIns="45720" rIns="91440" bIns="45720" rtlCol="0" anchor="b">
            <a:normAutofit/>
          </a:bodyPr>
          <a:lstStyle>
            <a:lvl1pPr marL="0" indent="0">
              <a:lnSpc>
                <a:spcPct val="90000"/>
              </a:lnSpc>
              <a:spcBef>
                <a:spcPts val="0"/>
              </a:spcBef>
              <a:buNone/>
              <a:defRPr lang="en-US" sz="23200" b="1" dirty="0">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8CA1557D-4816-44D0-B6EE-6CAC6E30B54D}" type="datetime1">
              <a:rPr lang="en-US" smtClean="0"/>
              <a:t>12/31/2025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052351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accent1">
                    <a:lumMod val="75000"/>
                  </a:schemeClr>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651F872E-5ED2-46B0-83A4-0C1AF0E0D91C}" type="datetime1">
              <a:rPr lang="en-US" smtClean="0"/>
              <a:t>12/31/2025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889142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4B1ECB8-9E10-D2F3-E361-7D268551E2E2}"/>
              </a:ext>
            </a:extLst>
          </p:cNvPr>
          <p:cNvSpPr/>
          <p:nvPr/>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C6218575-0C6E-47B4-936E-32183810D7BF}" type="datetime1">
              <a:rPr lang="en-US" smtClean="0"/>
              <a:t>12/31/2025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12789040"/>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1C29FB5-1C86-423F-AEAA-2683840666C3}" type="datetime1">
              <a:rPr lang="en-US" smtClean="0"/>
              <a:t>12/31/2025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6024710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11CCB4E-88AF-46AC-B7C5-30308F179659}" type="datetime1">
              <a:rPr lang="en-US" smtClean="0"/>
              <a:t>12/31/2025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0349235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A915B6-CC2A-4462-A7E5-B3080DF8F97D}" type="datetime1">
              <a:rPr lang="en-US" smtClean="0"/>
              <a:t>12/31/2025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559385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8" y="5431536"/>
            <a:ext cx="9021471" cy="466344"/>
          </a:xfrm>
        </p:spPr>
        <p:txBody>
          <a:bodyPr anchor="ctr">
            <a:normAutofit/>
          </a:bodyPr>
          <a:lstStyle>
            <a:lvl1pPr>
              <a:lnSpc>
                <a:spcPct val="120000"/>
              </a:lnSpc>
              <a:defRPr sz="220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657600"/>
          </a:xfrm>
        </p:spPr>
        <p:txBody>
          <a:bodyPr anchor="ctr">
            <a:normAutofit/>
          </a:bodyPr>
          <a:lstStyle>
            <a:lvl1pPr marL="164592" indent="-164592">
              <a:lnSpc>
                <a:spcPct val="100000"/>
              </a:lnSpc>
              <a:spcBef>
                <a:spcPts val="0"/>
              </a:spcBef>
              <a:buNone/>
              <a:defRPr sz="40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6188F7-A494-4EEB-A53D-2B97B1D4CD3C}" type="datetime1">
              <a:rPr lang="en-US" smtClean="0"/>
              <a:t>12/31/2025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2408634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6DECC02-1725-49EE-C93B-A4C2C4049458}"/>
              </a:ext>
            </a:extLst>
          </p:cNvPr>
          <p:cNvSpPr/>
          <p:nvPr/>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100000"/>
              </a:lnSpc>
              <a:spcBef>
                <a:spcPts val="0"/>
              </a:spcBef>
              <a:buNone/>
              <a:defRPr sz="40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9F406BC0-1562-42E5-89A2-925CA193C8A6}" type="datetime1">
              <a:rPr lang="en-US" smtClean="0"/>
              <a:t>12/31/2025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7541319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42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7F376A-778D-45CF-8340-DB03B2DA6A3E}" type="datetime1">
              <a:rPr lang="en-US" smtClean="0"/>
              <a:t>12/31/2025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6655856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dirty="0"/>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B9DFF5A-622E-43FE-9EE9-BAAB78AB2046}" type="datetime1">
              <a:rPr lang="en-US" smtClean="0"/>
              <a:t>12/31/2025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347701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F55C09E-FF30-4AA0-A227-171955622259}" type="datetime1">
              <a:rPr lang="en-US" smtClean="0"/>
              <a:t>12/31/2025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2017195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97B279FF-407B-4B41-9E69-DE66ED04A328}" type="datetime1">
              <a:rPr lang="en-US" smtClean="0"/>
              <a:t>12/31/2025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3462660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803E812-757D-4139-AF81-227C72D4B544}" type="datetime1">
              <a:rPr lang="en-US" smtClean="0"/>
              <a:t>12/31/2025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1318890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07D6A7E1-C424-43A5-938A-12DEC0A1D59D}" type="datetime1">
              <a:rPr lang="en-US" smtClean="0"/>
              <a:t>12/31/2025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060037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9" y="557784"/>
            <a:ext cx="6519080" cy="5779007"/>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807C4FC2-B89B-4919-A96B-662A3584681C}" type="datetime1">
              <a:rPr lang="en-US" smtClean="0"/>
              <a:t>12/31/2025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0994832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10888473" cy="1133856"/>
          </a:xfrm>
        </p:spPr>
        <p:txBody>
          <a:bodyPr anchor="b">
            <a:normAutofit/>
          </a:bodyPr>
          <a:lstStyle>
            <a:lvl1pPr>
              <a:defRPr sz="6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C24BE51-D660-433D-AABA-154BE028E64E}" type="datetime1">
              <a:rPr lang="en-US" smtClean="0"/>
              <a:t>12/31/2025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45497490"/>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rm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rm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B61F76E-6064-4431-B5C4-29A511725BCF}" type="datetime1">
              <a:rPr lang="en-US" smtClean="0"/>
              <a:t>12/31/2025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2665102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5EE9E671-1C83-40F7-9D33-FE8AAC7F721F}" type="datetime1">
              <a:rPr lang="en-US" smtClean="0"/>
              <a:t>12/31/2025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74150712"/>
      </p:ext>
    </p:extLst>
  </p:cSld>
  <p:clrMap bg1="lt1" tx1="dk1" bg2="lt2" tx2="dk2" accent1="accent1" accent2="accent2" accent3="accent3" accent4="accent4" accent5="accent5" accent6="accent6" hlink="hlink" folHlink="folHlink"/>
  <p:sldLayoutIdLst>
    <p:sldLayoutId id="2147483761" r:id="rId1"/>
    <p:sldLayoutId id="2147483760" r:id="rId2"/>
    <p:sldLayoutId id="2147483762"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 id="2147483736" r:id="rId26"/>
    <p:sldLayoutId id="2147483737" r:id="rId27"/>
    <p:sldLayoutId id="2147483738" r:id="rId28"/>
    <p:sldLayoutId id="2147483739" r:id="rId29"/>
    <p:sldLayoutId id="2147483740" r:id="rId30"/>
    <p:sldLayoutId id="2147483741" r:id="rId31"/>
    <p:sldLayoutId id="2147483742" r:id="rId32"/>
    <p:sldLayoutId id="2147483743" r:id="rId33"/>
    <p:sldLayoutId id="2147483744" r:id="rId34"/>
    <p:sldLayoutId id="2147483745" r:id="rId35"/>
    <p:sldLayoutId id="2147483746" r:id="rId36"/>
    <p:sldLayoutId id="2147483747" r:id="rId37"/>
    <p:sldLayoutId id="2147483748" r:id="rId38"/>
    <p:sldLayoutId id="2147483749" r:id="rId39"/>
    <p:sldLayoutId id="2147483750" r:id="rId40"/>
    <p:sldLayoutId id="2147483751" r:id="rId41"/>
    <p:sldLayoutId id="2147483752" r:id="rId42"/>
    <p:sldLayoutId id="2147483753" r:id="rId43"/>
    <p:sldLayoutId id="2147483754" r:id="rId44"/>
    <p:sldLayoutId id="2147483755" r:id="rId45"/>
    <p:sldLayoutId id="2147483756" r:id="rId46"/>
    <p:sldLayoutId id="2147483757" r:id="rId47"/>
    <p:sldLayoutId id="2147483758" r:id="rId48"/>
    <p:sldLayoutId id="2147483759" r:id="rId49"/>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1A0D6-1C5F-DFC8-7F2D-A729E6B59873}"/>
              </a:ext>
            </a:extLst>
          </p:cNvPr>
          <p:cNvSpPr>
            <a:spLocks noGrp="1"/>
          </p:cNvSpPr>
          <p:nvPr>
            <p:ph type="ctrTitle"/>
          </p:nvPr>
        </p:nvSpPr>
        <p:spPr>
          <a:xfrm>
            <a:off x="365760" y="5218032"/>
            <a:ext cx="11460480" cy="786384"/>
          </a:xfrm>
        </p:spPr>
        <p:txBody>
          <a:bodyPr anchor="b">
            <a:normAutofit/>
          </a:bodyPr>
          <a:lstStyle/>
          <a:p>
            <a:r>
              <a:rPr lang="en-US" dirty="0"/>
              <a:t>Hack4Health AI for Alzheimer's Challenge</a:t>
            </a:r>
          </a:p>
        </p:txBody>
      </p:sp>
      <p:sp>
        <p:nvSpPr>
          <p:cNvPr id="3" name="Subtitle 2">
            <a:extLst>
              <a:ext uri="{FF2B5EF4-FFF2-40B4-BE49-F238E27FC236}">
                <a16:creationId xmlns:a16="http://schemas.microsoft.com/office/drawing/2014/main" id="{66BC0A4A-A784-27D4-B7E8-F8E8E8FDEDEA}"/>
              </a:ext>
            </a:extLst>
          </p:cNvPr>
          <p:cNvSpPr>
            <a:spLocks noGrp="1"/>
          </p:cNvSpPr>
          <p:nvPr>
            <p:ph type="subTitle" idx="1"/>
          </p:nvPr>
        </p:nvSpPr>
        <p:spPr>
          <a:xfrm>
            <a:off x="365760" y="5972629"/>
            <a:ext cx="11108266" cy="480373"/>
          </a:xfrm>
        </p:spPr>
        <p:txBody>
          <a:bodyPr>
            <a:normAutofit/>
          </a:bodyPr>
          <a:lstStyle/>
          <a:p>
            <a:r>
              <a:rPr lang="en-US" dirty="0"/>
              <a:t>Early Detection of Alzheimer’s Disease Using Deep Learning on MRI Scans</a:t>
            </a:r>
          </a:p>
        </p:txBody>
      </p:sp>
      <p:pic>
        <p:nvPicPr>
          <p:cNvPr id="5" name="Picture Placeholder 4" descr="A comparison of brain and brain">
            <a:extLst>
              <a:ext uri="{FF2B5EF4-FFF2-40B4-BE49-F238E27FC236}">
                <a16:creationId xmlns:a16="http://schemas.microsoft.com/office/drawing/2014/main" id="{CC08C2AD-259D-DEC4-A976-6272DB8E1C14}"/>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29466" b="29466"/>
          <a:stretch>
            <a:fillRect/>
          </a:stretch>
        </p:blipFill>
        <p:spPr>
          <a:xfrm>
            <a:off x="365760" y="226338"/>
            <a:ext cx="11108266" cy="4543108"/>
          </a:xfrm>
        </p:spPr>
      </p:pic>
    </p:spTree>
    <p:extLst>
      <p:ext uri="{BB962C8B-B14F-4D97-AF65-F5344CB8AC3E}">
        <p14:creationId xmlns:p14="http://schemas.microsoft.com/office/powerpoint/2010/main" val="2023322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73AAB-9C13-90CD-BED0-8F8D1DF76BF8}"/>
              </a:ext>
            </a:extLst>
          </p:cNvPr>
          <p:cNvSpPr>
            <a:spLocks noGrp="1"/>
          </p:cNvSpPr>
          <p:nvPr>
            <p:ph type="title"/>
          </p:nvPr>
        </p:nvSpPr>
        <p:spPr>
          <a:xfrm>
            <a:off x="612648" y="152400"/>
            <a:ext cx="10653578" cy="643467"/>
          </a:xfrm>
        </p:spPr>
        <p:txBody>
          <a:bodyPr/>
          <a:lstStyle/>
          <a:p>
            <a:r>
              <a:rPr lang="en-US" dirty="0"/>
              <a:t>Contents</a:t>
            </a:r>
          </a:p>
        </p:txBody>
      </p:sp>
      <p:sp>
        <p:nvSpPr>
          <p:cNvPr id="3" name="Content Placeholder 2">
            <a:extLst>
              <a:ext uri="{FF2B5EF4-FFF2-40B4-BE49-F238E27FC236}">
                <a16:creationId xmlns:a16="http://schemas.microsoft.com/office/drawing/2014/main" id="{D3A0CF1C-6719-16B2-2DE6-43E788A1B2A0}"/>
              </a:ext>
            </a:extLst>
          </p:cNvPr>
          <p:cNvSpPr>
            <a:spLocks noGrp="1"/>
          </p:cNvSpPr>
          <p:nvPr>
            <p:ph idx="1"/>
          </p:nvPr>
        </p:nvSpPr>
        <p:spPr>
          <a:xfrm>
            <a:off x="612647" y="795867"/>
            <a:ext cx="10653579" cy="6434665"/>
          </a:xfrm>
        </p:spPr>
        <p:txBody>
          <a:bodyPr>
            <a:noAutofit/>
          </a:bodyPr>
          <a:lstStyle/>
          <a:p>
            <a:r>
              <a:rPr lang="en-US" sz="1600" dirty="0"/>
              <a:t>Problem Motivation</a:t>
            </a:r>
          </a:p>
          <a:p>
            <a:r>
              <a:rPr lang="en-US" sz="1600" dirty="0"/>
              <a:t>Project Objective</a:t>
            </a:r>
          </a:p>
          <a:p>
            <a:r>
              <a:rPr lang="en-US" sz="1600" dirty="0"/>
              <a:t>Dataset &amp; Preprocessing</a:t>
            </a:r>
          </a:p>
          <a:p>
            <a:r>
              <a:rPr lang="en-US" sz="1600" dirty="0"/>
              <a:t>Baseline Model – Simple CNN</a:t>
            </a:r>
          </a:p>
          <a:p>
            <a:r>
              <a:rPr lang="en-US" sz="1600" dirty="0"/>
              <a:t>VGG19 Transfer Learning for Alzheimer’s Classification</a:t>
            </a:r>
          </a:p>
          <a:p>
            <a:r>
              <a:rPr lang="en-US" sz="1600" dirty="0"/>
              <a:t>Advanced Model – DenseNet121</a:t>
            </a:r>
          </a:p>
          <a:p>
            <a:r>
              <a:rPr lang="en-US" sz="1600" dirty="0"/>
              <a:t>Training Strategy</a:t>
            </a:r>
          </a:p>
          <a:p>
            <a:r>
              <a:rPr lang="en-US" sz="1600" dirty="0"/>
              <a:t>Model Performance &amp; Results</a:t>
            </a:r>
          </a:p>
          <a:p>
            <a:r>
              <a:rPr lang="en-US" sz="1600" dirty="0"/>
              <a:t>Explainability via ResNet50 and Grad-CAM</a:t>
            </a:r>
          </a:p>
          <a:p>
            <a:r>
              <a:rPr lang="en-US" sz="1600" dirty="0"/>
              <a:t>Explainability &amp; Interpretability</a:t>
            </a:r>
          </a:p>
          <a:p>
            <a:r>
              <a:rPr lang="en-US" sz="1600" dirty="0"/>
              <a:t>Innovation &amp; Creativity</a:t>
            </a:r>
          </a:p>
          <a:p>
            <a:r>
              <a:rPr lang="en-US" sz="1600" dirty="0"/>
              <a:t>Code Quality &amp; Reproducibility</a:t>
            </a:r>
          </a:p>
          <a:p>
            <a:r>
              <a:rPr lang="en-US" sz="1600" dirty="0"/>
              <a:t>Model Comparison</a:t>
            </a:r>
          </a:p>
          <a:p>
            <a:r>
              <a:rPr lang="en-US" sz="1600" dirty="0"/>
              <a:t>Impact &amp; Applications</a:t>
            </a:r>
          </a:p>
          <a:p>
            <a:r>
              <a:rPr lang="en-US" sz="1600" dirty="0"/>
              <a:t>Limitations &amp; Future Work</a:t>
            </a:r>
          </a:p>
          <a:p>
            <a:r>
              <a:rPr lang="en-US" sz="1600" dirty="0"/>
              <a:t>Conclusion</a:t>
            </a:r>
          </a:p>
        </p:txBody>
      </p:sp>
    </p:spTree>
    <p:extLst>
      <p:ext uri="{BB962C8B-B14F-4D97-AF65-F5344CB8AC3E}">
        <p14:creationId xmlns:p14="http://schemas.microsoft.com/office/powerpoint/2010/main" val="3537058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E9CB5-4E34-FF84-541A-340377C969E5}"/>
              </a:ext>
            </a:extLst>
          </p:cNvPr>
          <p:cNvSpPr>
            <a:spLocks noGrp="1"/>
          </p:cNvSpPr>
          <p:nvPr>
            <p:ph type="title"/>
          </p:nvPr>
        </p:nvSpPr>
        <p:spPr/>
        <p:txBody>
          <a:bodyPr/>
          <a:lstStyle/>
          <a:p>
            <a:r>
              <a:rPr lang="en-US" dirty="0"/>
              <a:t>Problem Motivation</a:t>
            </a:r>
          </a:p>
        </p:txBody>
      </p:sp>
      <p:sp>
        <p:nvSpPr>
          <p:cNvPr id="3" name="Content Placeholder 2">
            <a:extLst>
              <a:ext uri="{FF2B5EF4-FFF2-40B4-BE49-F238E27FC236}">
                <a16:creationId xmlns:a16="http://schemas.microsoft.com/office/drawing/2014/main" id="{1F84E41F-2D8D-22E2-CA46-205EF379D087}"/>
              </a:ext>
            </a:extLst>
          </p:cNvPr>
          <p:cNvSpPr>
            <a:spLocks noGrp="1"/>
          </p:cNvSpPr>
          <p:nvPr>
            <p:ph idx="1"/>
          </p:nvPr>
        </p:nvSpPr>
        <p:spPr>
          <a:xfrm>
            <a:off x="612647" y="1202267"/>
            <a:ext cx="10653579" cy="5107093"/>
          </a:xfrm>
        </p:spPr>
        <p:txBody>
          <a:bodyPr/>
          <a:lstStyle/>
          <a:p>
            <a:r>
              <a:rPr lang="en-US" dirty="0"/>
              <a:t>Alzheimer’s disease accounts for </a:t>
            </a:r>
            <a:r>
              <a:rPr lang="en-US" b="1" dirty="0"/>
              <a:t>60–80% of dementia cases</a:t>
            </a:r>
          </a:p>
          <a:p>
            <a:r>
              <a:rPr lang="en-US" dirty="0"/>
              <a:t>Risk increases significantly after age 65</a:t>
            </a:r>
          </a:p>
          <a:p>
            <a:r>
              <a:rPr lang="en-US" dirty="0"/>
              <a:t>Symptoms progress gradually and are often detected late</a:t>
            </a:r>
          </a:p>
          <a:p>
            <a:r>
              <a:rPr lang="en-US" dirty="0"/>
              <a:t>Late diagnosis limits treatment options and care planning</a:t>
            </a:r>
          </a:p>
          <a:p>
            <a:r>
              <a:rPr lang="en-US" b="1" dirty="0"/>
              <a:t>Early, accurate detection is critical</a:t>
            </a:r>
            <a:r>
              <a:rPr lang="en-US" dirty="0"/>
              <a:t> for:</a:t>
            </a:r>
          </a:p>
          <a:p>
            <a:pPr lvl="1"/>
            <a:r>
              <a:rPr lang="en-US" dirty="0"/>
              <a:t>Timely clinical intervention</a:t>
            </a:r>
          </a:p>
          <a:p>
            <a:pPr lvl="1"/>
            <a:r>
              <a:rPr lang="en-US" dirty="0"/>
              <a:t>Slowing disease progression</a:t>
            </a:r>
          </a:p>
          <a:p>
            <a:pPr lvl="1"/>
            <a:r>
              <a:rPr lang="en-US" dirty="0"/>
              <a:t>Supporting patients and caregivers</a:t>
            </a:r>
          </a:p>
          <a:p>
            <a:r>
              <a:rPr lang="en-US" b="1" dirty="0"/>
              <a:t>Goal:</a:t>
            </a:r>
            <a:r>
              <a:rPr lang="en-US" dirty="0"/>
              <a:t> Build a reliable AI-based diagnostic support system using MRI scans</a:t>
            </a:r>
          </a:p>
        </p:txBody>
      </p:sp>
    </p:spTree>
    <p:extLst>
      <p:ext uri="{BB962C8B-B14F-4D97-AF65-F5344CB8AC3E}">
        <p14:creationId xmlns:p14="http://schemas.microsoft.com/office/powerpoint/2010/main" val="3038262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8B574-5B79-4B6C-EB20-412E828C398A}"/>
              </a:ext>
            </a:extLst>
          </p:cNvPr>
          <p:cNvSpPr>
            <a:spLocks noGrp="1"/>
          </p:cNvSpPr>
          <p:nvPr>
            <p:ph type="title"/>
          </p:nvPr>
        </p:nvSpPr>
        <p:spPr/>
        <p:txBody>
          <a:bodyPr/>
          <a:lstStyle/>
          <a:p>
            <a:r>
              <a:rPr lang="en-US" dirty="0"/>
              <a:t>Project Objective</a:t>
            </a:r>
          </a:p>
        </p:txBody>
      </p:sp>
      <p:sp>
        <p:nvSpPr>
          <p:cNvPr id="3" name="Content Placeholder 2">
            <a:extLst>
              <a:ext uri="{FF2B5EF4-FFF2-40B4-BE49-F238E27FC236}">
                <a16:creationId xmlns:a16="http://schemas.microsoft.com/office/drawing/2014/main" id="{299B10FD-2FFA-DADB-84B7-3F0F85D243FC}"/>
              </a:ext>
            </a:extLst>
          </p:cNvPr>
          <p:cNvSpPr>
            <a:spLocks noGrp="1"/>
          </p:cNvSpPr>
          <p:nvPr>
            <p:ph idx="1"/>
          </p:nvPr>
        </p:nvSpPr>
        <p:spPr/>
        <p:txBody>
          <a:bodyPr/>
          <a:lstStyle/>
          <a:p>
            <a:r>
              <a:rPr lang="en-US" dirty="0"/>
              <a:t> Develop a </a:t>
            </a:r>
            <a:r>
              <a:rPr lang="en-US" b="1" dirty="0"/>
              <a:t>machine learning model</a:t>
            </a:r>
            <a:r>
              <a:rPr lang="en-US" dirty="0"/>
              <a:t> to detect and classify Alzheimer’s disease stages from MRI images</a:t>
            </a:r>
          </a:p>
          <a:p>
            <a:r>
              <a:rPr lang="en-US" dirty="0"/>
              <a:t>Focus on:</a:t>
            </a:r>
          </a:p>
          <a:p>
            <a:pPr lvl="1"/>
            <a:r>
              <a:rPr lang="en-US" dirty="0"/>
              <a:t>Early detection</a:t>
            </a:r>
          </a:p>
          <a:p>
            <a:pPr lvl="1"/>
            <a:r>
              <a:rPr lang="en-US" dirty="0"/>
              <a:t>Clinical relevance and interpretability</a:t>
            </a:r>
          </a:p>
          <a:p>
            <a:r>
              <a:rPr lang="en-US" dirty="0"/>
              <a:t>Disease Stages Classified:</a:t>
            </a:r>
          </a:p>
          <a:p>
            <a:pPr lvl="1"/>
            <a:r>
              <a:rPr lang="en-US" dirty="0"/>
              <a:t>Non-Demented</a:t>
            </a:r>
          </a:p>
          <a:p>
            <a:pPr lvl="1"/>
            <a:r>
              <a:rPr lang="en-US" dirty="0"/>
              <a:t>Very Mild Demented</a:t>
            </a:r>
          </a:p>
          <a:p>
            <a:pPr lvl="1"/>
            <a:r>
              <a:rPr lang="en-US" dirty="0"/>
              <a:t>Mild Demented</a:t>
            </a:r>
          </a:p>
          <a:p>
            <a:pPr lvl="1"/>
            <a:r>
              <a:rPr lang="en-US" dirty="0"/>
              <a:t>Moderate Demented</a:t>
            </a:r>
          </a:p>
        </p:txBody>
      </p:sp>
    </p:spTree>
    <p:extLst>
      <p:ext uri="{BB962C8B-B14F-4D97-AF65-F5344CB8AC3E}">
        <p14:creationId xmlns:p14="http://schemas.microsoft.com/office/powerpoint/2010/main" val="1328601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BA49E-1AD5-88E5-2895-07EEF570B239}"/>
              </a:ext>
            </a:extLst>
          </p:cNvPr>
          <p:cNvSpPr>
            <a:spLocks noGrp="1"/>
          </p:cNvSpPr>
          <p:nvPr>
            <p:ph type="title"/>
          </p:nvPr>
        </p:nvSpPr>
        <p:spPr/>
        <p:txBody>
          <a:bodyPr/>
          <a:lstStyle/>
          <a:p>
            <a:r>
              <a:rPr lang="en-US" dirty="0"/>
              <a:t>Dataset &amp; Preprocessing</a:t>
            </a:r>
          </a:p>
        </p:txBody>
      </p:sp>
      <p:sp>
        <p:nvSpPr>
          <p:cNvPr id="3" name="Content Placeholder 2">
            <a:extLst>
              <a:ext uri="{FF2B5EF4-FFF2-40B4-BE49-F238E27FC236}">
                <a16:creationId xmlns:a16="http://schemas.microsoft.com/office/drawing/2014/main" id="{AE2BD653-41AE-1366-59CF-ED27FD294F56}"/>
              </a:ext>
            </a:extLst>
          </p:cNvPr>
          <p:cNvSpPr>
            <a:spLocks noGrp="1"/>
          </p:cNvSpPr>
          <p:nvPr>
            <p:ph idx="1"/>
          </p:nvPr>
        </p:nvSpPr>
        <p:spPr/>
        <p:txBody>
          <a:bodyPr/>
          <a:lstStyle/>
          <a:p>
            <a:r>
              <a:rPr lang="en-US" dirty="0"/>
              <a:t>MRI data stored in </a:t>
            </a:r>
            <a:r>
              <a:rPr lang="en-US" b="1" dirty="0"/>
              <a:t>Parquet format</a:t>
            </a:r>
          </a:p>
          <a:p>
            <a:r>
              <a:rPr lang="en-US" dirty="0"/>
              <a:t>Images reconstructed from </a:t>
            </a:r>
            <a:r>
              <a:rPr lang="en-US" b="1" dirty="0"/>
              <a:t>raw byte streams</a:t>
            </a:r>
          </a:p>
          <a:p>
            <a:r>
              <a:rPr lang="en-US" dirty="0"/>
              <a:t>Converted to grayscale pixel arrays using </a:t>
            </a:r>
            <a:r>
              <a:rPr lang="en-US" b="1" dirty="0"/>
              <a:t>PIL</a:t>
            </a:r>
          </a:p>
          <a:p>
            <a:r>
              <a:rPr lang="en-US" dirty="0"/>
              <a:t>Resized to </a:t>
            </a:r>
            <a:r>
              <a:rPr lang="en-US" b="1" dirty="0"/>
              <a:t>128 × 128 pixels</a:t>
            </a:r>
          </a:p>
          <a:p>
            <a:r>
              <a:rPr lang="en-US" dirty="0"/>
              <a:t>Dataset analysis revealed </a:t>
            </a:r>
            <a:r>
              <a:rPr lang="en-US" b="1" dirty="0"/>
              <a:t>class imbalance</a:t>
            </a:r>
          </a:p>
          <a:p>
            <a:r>
              <a:rPr lang="en-US" dirty="0"/>
              <a:t>Strategies used:</a:t>
            </a:r>
          </a:p>
          <a:p>
            <a:pPr lvl="1"/>
            <a:r>
              <a:rPr lang="en-US" dirty="0"/>
              <a:t>Stratified data splitting</a:t>
            </a:r>
          </a:p>
          <a:p>
            <a:pPr lvl="1"/>
            <a:r>
              <a:rPr lang="en-US" dirty="0"/>
              <a:t>Class weighting</a:t>
            </a:r>
          </a:p>
          <a:p>
            <a:pPr lvl="1"/>
            <a:r>
              <a:rPr lang="en-US" dirty="0"/>
              <a:t>Balanced evaluation metrics</a:t>
            </a:r>
          </a:p>
        </p:txBody>
      </p:sp>
    </p:spTree>
    <p:extLst>
      <p:ext uri="{BB962C8B-B14F-4D97-AF65-F5344CB8AC3E}">
        <p14:creationId xmlns:p14="http://schemas.microsoft.com/office/powerpoint/2010/main" val="708767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C00DF-F1EF-BAE1-6B42-880548B49E11}"/>
              </a:ext>
            </a:extLst>
          </p:cNvPr>
          <p:cNvSpPr>
            <a:spLocks noGrp="1"/>
          </p:cNvSpPr>
          <p:nvPr>
            <p:ph type="title"/>
          </p:nvPr>
        </p:nvSpPr>
        <p:spPr/>
        <p:txBody>
          <a:bodyPr/>
          <a:lstStyle/>
          <a:p>
            <a:r>
              <a:rPr lang="en-US" dirty="0"/>
              <a:t>Baseline Model – Simple CNN</a:t>
            </a:r>
          </a:p>
        </p:txBody>
      </p:sp>
      <p:sp>
        <p:nvSpPr>
          <p:cNvPr id="3" name="Content Placeholder 2">
            <a:extLst>
              <a:ext uri="{FF2B5EF4-FFF2-40B4-BE49-F238E27FC236}">
                <a16:creationId xmlns:a16="http://schemas.microsoft.com/office/drawing/2014/main" id="{6874E70D-1199-1A00-9E35-9D81F41E1564}"/>
              </a:ext>
            </a:extLst>
          </p:cNvPr>
          <p:cNvSpPr>
            <a:spLocks noGrp="1"/>
          </p:cNvSpPr>
          <p:nvPr>
            <p:ph idx="1"/>
          </p:nvPr>
        </p:nvSpPr>
        <p:spPr>
          <a:xfrm>
            <a:off x="612647" y="1253067"/>
            <a:ext cx="10653579" cy="5604933"/>
          </a:xfrm>
        </p:spPr>
        <p:txBody>
          <a:bodyPr>
            <a:normAutofit/>
          </a:bodyPr>
          <a:lstStyle/>
          <a:p>
            <a:r>
              <a:rPr lang="en-US" dirty="0"/>
              <a:t>Custom Convolutional Neural Network built from scratch</a:t>
            </a:r>
          </a:p>
          <a:p>
            <a:r>
              <a:rPr lang="en-US" dirty="0"/>
              <a:t>Architecture:</a:t>
            </a:r>
          </a:p>
          <a:p>
            <a:pPr lvl="1"/>
            <a:r>
              <a:rPr lang="en-US" dirty="0"/>
              <a:t>Multiple convolution + </a:t>
            </a:r>
            <a:r>
              <a:rPr lang="en-US" dirty="0" err="1"/>
              <a:t>ReLU</a:t>
            </a:r>
            <a:r>
              <a:rPr lang="en-US" dirty="0"/>
              <a:t> layers</a:t>
            </a:r>
          </a:p>
          <a:p>
            <a:pPr lvl="1"/>
            <a:r>
              <a:rPr lang="en-US" dirty="0"/>
              <a:t>Max pooling for spatial feature extraction</a:t>
            </a:r>
          </a:p>
          <a:p>
            <a:pPr lvl="1"/>
            <a:r>
              <a:rPr lang="en-US" dirty="0"/>
              <a:t>Fully connected classification layers</a:t>
            </a:r>
          </a:p>
          <a:p>
            <a:r>
              <a:rPr lang="en-US" dirty="0"/>
              <a:t>Training details:</a:t>
            </a:r>
          </a:p>
          <a:p>
            <a:pPr lvl="1"/>
            <a:r>
              <a:rPr lang="en-US" dirty="0"/>
              <a:t>Optimizer: Adam</a:t>
            </a:r>
          </a:p>
          <a:p>
            <a:pPr lvl="1"/>
            <a:r>
              <a:rPr lang="en-US" dirty="0"/>
              <a:t>Loss: Cross Entropy</a:t>
            </a:r>
          </a:p>
          <a:p>
            <a:pPr lvl="1"/>
            <a:r>
              <a:rPr lang="en-US" dirty="0"/>
              <a:t>Epochs: 20</a:t>
            </a:r>
          </a:p>
          <a:p>
            <a:r>
              <a:rPr lang="en-US" b="1" dirty="0"/>
              <a:t>Baseline Performance:</a:t>
            </a:r>
          </a:p>
          <a:p>
            <a:pPr lvl="1"/>
            <a:r>
              <a:rPr lang="en-US" dirty="0"/>
              <a:t>Test Accuracy: 97.58%</a:t>
            </a:r>
          </a:p>
          <a:p>
            <a:pPr lvl="1"/>
            <a:r>
              <a:rPr lang="en-US" dirty="0"/>
              <a:t>Established a strong reference point for advanced models</a:t>
            </a:r>
          </a:p>
        </p:txBody>
      </p:sp>
    </p:spTree>
    <p:extLst>
      <p:ext uri="{BB962C8B-B14F-4D97-AF65-F5344CB8AC3E}">
        <p14:creationId xmlns:p14="http://schemas.microsoft.com/office/powerpoint/2010/main" val="177374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9B9E0-7B3B-AAD0-4C73-7B494869C3D3}"/>
              </a:ext>
            </a:extLst>
          </p:cNvPr>
          <p:cNvSpPr>
            <a:spLocks noGrp="1"/>
          </p:cNvSpPr>
          <p:nvPr>
            <p:ph type="title"/>
          </p:nvPr>
        </p:nvSpPr>
        <p:spPr/>
        <p:txBody>
          <a:bodyPr/>
          <a:lstStyle/>
          <a:p>
            <a:r>
              <a:rPr lang="en-US" dirty="0"/>
              <a:t>VGG19 Transfer Learning for Alzheimer’s Classification</a:t>
            </a:r>
          </a:p>
        </p:txBody>
      </p:sp>
      <p:sp>
        <p:nvSpPr>
          <p:cNvPr id="3" name="Content Placeholder 2">
            <a:extLst>
              <a:ext uri="{FF2B5EF4-FFF2-40B4-BE49-F238E27FC236}">
                <a16:creationId xmlns:a16="http://schemas.microsoft.com/office/drawing/2014/main" id="{F0EBED93-4D4B-C257-121A-AC876675F099}"/>
              </a:ext>
            </a:extLst>
          </p:cNvPr>
          <p:cNvSpPr>
            <a:spLocks noGrp="1"/>
          </p:cNvSpPr>
          <p:nvPr>
            <p:ph idx="1"/>
          </p:nvPr>
        </p:nvSpPr>
        <p:spPr>
          <a:xfrm>
            <a:off x="612647" y="1680898"/>
            <a:ext cx="10653579" cy="4628462"/>
          </a:xfrm>
        </p:spPr>
        <p:txBody>
          <a:bodyPr>
            <a:normAutofit fontScale="92500" lnSpcReduction="10000"/>
          </a:bodyPr>
          <a:lstStyle/>
          <a:p>
            <a:r>
              <a:rPr lang="en-US" dirty="0"/>
              <a:t>Architecture: VGG19 (pre-trained on ImageNet)</a:t>
            </a:r>
          </a:p>
          <a:p>
            <a:r>
              <a:rPr lang="en-US" dirty="0"/>
              <a:t>Input Size: 224 × 224 MRI slices (grayscale → 3-channel)</a:t>
            </a:r>
          </a:p>
          <a:p>
            <a:r>
              <a:rPr lang="en-US" b="1" dirty="0"/>
              <a:t>Training Strategy:</a:t>
            </a:r>
            <a:endParaRPr lang="en-US" dirty="0"/>
          </a:p>
          <a:p>
            <a:pPr lvl="1"/>
            <a:r>
              <a:rPr lang="en-US" dirty="0"/>
              <a:t>Transfer learning with partial backbone freezing</a:t>
            </a:r>
          </a:p>
          <a:p>
            <a:pPr lvl="1"/>
            <a:r>
              <a:rPr lang="en-US" dirty="0"/>
              <a:t>Label smoothing (0.05)</a:t>
            </a:r>
          </a:p>
          <a:p>
            <a:pPr lvl="1"/>
            <a:r>
              <a:rPr lang="en-US" dirty="0"/>
              <a:t>Stratified train/validation split</a:t>
            </a:r>
          </a:p>
          <a:p>
            <a:pPr lvl="1"/>
            <a:r>
              <a:rPr lang="en-US" dirty="0"/>
              <a:t>Mixed-precision training on GPU</a:t>
            </a:r>
          </a:p>
          <a:p>
            <a:pPr lvl="1"/>
            <a:r>
              <a:rPr lang="en-US" dirty="0"/>
              <a:t>Early stopping based on </a:t>
            </a:r>
            <a:r>
              <a:rPr lang="en-US" b="1" dirty="0"/>
              <a:t>macro F1-score</a:t>
            </a:r>
          </a:p>
          <a:p>
            <a:r>
              <a:rPr lang="en-US" b="1" dirty="0"/>
              <a:t>Test Performance</a:t>
            </a:r>
          </a:p>
          <a:p>
            <a:pPr lvl="1"/>
            <a:r>
              <a:rPr lang="en-US" dirty="0"/>
              <a:t>Accuracy: 95.3%</a:t>
            </a:r>
          </a:p>
          <a:p>
            <a:pPr lvl="1"/>
            <a:r>
              <a:rPr lang="en-US" dirty="0"/>
              <a:t>Macro F1-score: 0.853</a:t>
            </a:r>
          </a:p>
          <a:p>
            <a:pPr lvl="1"/>
            <a:r>
              <a:rPr lang="en-US" dirty="0"/>
              <a:t>Balanced Accuracy: 0.94</a:t>
            </a:r>
          </a:p>
          <a:p>
            <a:endParaRPr lang="en-US" dirty="0"/>
          </a:p>
          <a:p>
            <a:endParaRPr lang="en-US" dirty="0"/>
          </a:p>
        </p:txBody>
      </p:sp>
    </p:spTree>
    <p:extLst>
      <p:ext uri="{BB962C8B-B14F-4D97-AF65-F5344CB8AC3E}">
        <p14:creationId xmlns:p14="http://schemas.microsoft.com/office/powerpoint/2010/main" val="3135980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8FDFB-6927-2114-B447-401893892635}"/>
              </a:ext>
            </a:extLst>
          </p:cNvPr>
          <p:cNvSpPr>
            <a:spLocks noGrp="1"/>
          </p:cNvSpPr>
          <p:nvPr>
            <p:ph type="title"/>
          </p:nvPr>
        </p:nvSpPr>
        <p:spPr/>
        <p:txBody>
          <a:bodyPr/>
          <a:lstStyle/>
          <a:p>
            <a:r>
              <a:rPr lang="en-US" dirty="0"/>
              <a:t>Advanced Model – DenseNet121</a:t>
            </a:r>
          </a:p>
        </p:txBody>
      </p:sp>
      <p:sp>
        <p:nvSpPr>
          <p:cNvPr id="3" name="Content Placeholder 2">
            <a:extLst>
              <a:ext uri="{FF2B5EF4-FFF2-40B4-BE49-F238E27FC236}">
                <a16:creationId xmlns:a16="http://schemas.microsoft.com/office/drawing/2014/main" id="{F2136DBA-4916-FA34-FF0F-F11199316357}"/>
              </a:ext>
            </a:extLst>
          </p:cNvPr>
          <p:cNvSpPr>
            <a:spLocks noGrp="1"/>
          </p:cNvSpPr>
          <p:nvPr>
            <p:ph idx="1"/>
          </p:nvPr>
        </p:nvSpPr>
        <p:spPr/>
        <p:txBody>
          <a:bodyPr/>
          <a:lstStyle/>
          <a:p>
            <a:r>
              <a:rPr lang="en-US" dirty="0"/>
              <a:t>Used </a:t>
            </a:r>
            <a:r>
              <a:rPr lang="en-US" b="1" dirty="0"/>
              <a:t>transfer learning</a:t>
            </a:r>
            <a:r>
              <a:rPr lang="en-US" dirty="0"/>
              <a:t> with pre-trained DenseNet121</a:t>
            </a:r>
          </a:p>
          <a:p>
            <a:r>
              <a:rPr lang="en-US" dirty="0"/>
              <a:t>Key enhancements:</a:t>
            </a:r>
          </a:p>
          <a:p>
            <a:pPr lvl="1"/>
            <a:r>
              <a:rPr lang="en-US" dirty="0"/>
              <a:t>ImageNet pre-trained weights</a:t>
            </a:r>
          </a:p>
          <a:p>
            <a:pPr lvl="1"/>
            <a:r>
              <a:rPr lang="en-US" dirty="0"/>
              <a:t>Grayscale images converted to 3-channel input</a:t>
            </a:r>
          </a:p>
          <a:p>
            <a:pPr lvl="1"/>
            <a:r>
              <a:rPr lang="fr-FR" dirty="0"/>
              <a:t>Data augmentation (rotation, affine </a:t>
            </a:r>
            <a:r>
              <a:rPr lang="fr-FR" dirty="0" err="1"/>
              <a:t>transforms</a:t>
            </a:r>
            <a:r>
              <a:rPr lang="fr-FR" dirty="0"/>
              <a:t>)</a:t>
            </a:r>
          </a:p>
          <a:p>
            <a:pPr lvl="1"/>
            <a:r>
              <a:rPr lang="en-US" dirty="0"/>
              <a:t>Label smoothing and class-weighted loss</a:t>
            </a:r>
          </a:p>
          <a:p>
            <a:r>
              <a:rPr lang="en-US" dirty="0"/>
              <a:t>Backbone optionally frozen during early training</a:t>
            </a:r>
          </a:p>
          <a:p>
            <a:r>
              <a:rPr lang="en-US" dirty="0"/>
              <a:t>Centralized configuration for reproducibility</a:t>
            </a:r>
          </a:p>
        </p:txBody>
      </p:sp>
    </p:spTree>
    <p:extLst>
      <p:ext uri="{BB962C8B-B14F-4D97-AF65-F5344CB8AC3E}">
        <p14:creationId xmlns:p14="http://schemas.microsoft.com/office/powerpoint/2010/main" val="1088189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51FE1-527E-AD6B-C35B-4F2E41A29A50}"/>
              </a:ext>
            </a:extLst>
          </p:cNvPr>
          <p:cNvSpPr>
            <a:spLocks noGrp="1"/>
          </p:cNvSpPr>
          <p:nvPr>
            <p:ph type="title"/>
          </p:nvPr>
        </p:nvSpPr>
        <p:spPr/>
        <p:txBody>
          <a:bodyPr/>
          <a:lstStyle/>
          <a:p>
            <a:r>
              <a:rPr lang="en-US" dirty="0"/>
              <a:t>Training Strategy</a:t>
            </a:r>
          </a:p>
        </p:txBody>
      </p:sp>
      <p:sp>
        <p:nvSpPr>
          <p:cNvPr id="3" name="Content Placeholder 2">
            <a:extLst>
              <a:ext uri="{FF2B5EF4-FFF2-40B4-BE49-F238E27FC236}">
                <a16:creationId xmlns:a16="http://schemas.microsoft.com/office/drawing/2014/main" id="{6A157BAB-8FCC-09E3-7BAF-6135971307DF}"/>
              </a:ext>
            </a:extLst>
          </p:cNvPr>
          <p:cNvSpPr>
            <a:spLocks noGrp="1"/>
          </p:cNvSpPr>
          <p:nvPr>
            <p:ph idx="1"/>
          </p:nvPr>
        </p:nvSpPr>
        <p:spPr>
          <a:xfrm>
            <a:off x="612647" y="1202267"/>
            <a:ext cx="10653579" cy="5107093"/>
          </a:xfrm>
        </p:spPr>
        <p:txBody>
          <a:bodyPr>
            <a:normAutofit/>
          </a:bodyPr>
          <a:lstStyle/>
          <a:p>
            <a:r>
              <a:rPr lang="en-US" dirty="0"/>
              <a:t>Stratified train–validation split</a:t>
            </a:r>
          </a:p>
          <a:p>
            <a:r>
              <a:rPr lang="en-US" dirty="0"/>
              <a:t>Optimizer: Adam</a:t>
            </a:r>
          </a:p>
          <a:p>
            <a:r>
              <a:rPr lang="en-US" dirty="0"/>
              <a:t>Learning rate scheduling: One Cycle Policy</a:t>
            </a:r>
          </a:p>
          <a:p>
            <a:r>
              <a:rPr lang="en-US" dirty="0"/>
              <a:t>Mixed precision training for efficiency</a:t>
            </a:r>
          </a:p>
          <a:p>
            <a:r>
              <a:rPr lang="en-US" dirty="0"/>
              <a:t>Early stopping based on macro F1-score</a:t>
            </a:r>
          </a:p>
          <a:p>
            <a:r>
              <a:rPr lang="en-US" dirty="0"/>
              <a:t>Addressed class imbalance using inverse-frequency weights</a:t>
            </a:r>
          </a:p>
        </p:txBody>
      </p:sp>
    </p:spTree>
    <p:extLst>
      <p:ext uri="{BB962C8B-B14F-4D97-AF65-F5344CB8AC3E}">
        <p14:creationId xmlns:p14="http://schemas.microsoft.com/office/powerpoint/2010/main" val="3747839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D6F1D-726F-2BF5-0D6B-60620A294632}"/>
              </a:ext>
            </a:extLst>
          </p:cNvPr>
          <p:cNvSpPr>
            <a:spLocks noGrp="1"/>
          </p:cNvSpPr>
          <p:nvPr>
            <p:ph type="title"/>
          </p:nvPr>
        </p:nvSpPr>
        <p:spPr/>
        <p:txBody>
          <a:bodyPr/>
          <a:lstStyle/>
          <a:p>
            <a:r>
              <a:rPr lang="en-US" dirty="0"/>
              <a:t>Model Performance &amp; Results</a:t>
            </a:r>
          </a:p>
        </p:txBody>
      </p:sp>
      <p:sp>
        <p:nvSpPr>
          <p:cNvPr id="3" name="Content Placeholder 2">
            <a:extLst>
              <a:ext uri="{FF2B5EF4-FFF2-40B4-BE49-F238E27FC236}">
                <a16:creationId xmlns:a16="http://schemas.microsoft.com/office/drawing/2014/main" id="{264A9280-C791-2E16-581F-F906945764B8}"/>
              </a:ext>
            </a:extLst>
          </p:cNvPr>
          <p:cNvSpPr>
            <a:spLocks noGrp="1"/>
          </p:cNvSpPr>
          <p:nvPr>
            <p:ph idx="1"/>
          </p:nvPr>
        </p:nvSpPr>
        <p:spPr/>
        <p:txBody>
          <a:bodyPr/>
          <a:lstStyle/>
          <a:p>
            <a:r>
              <a:rPr lang="en-US" b="1" dirty="0"/>
              <a:t>DenseNet121 Results:</a:t>
            </a:r>
          </a:p>
          <a:p>
            <a:pPr lvl="1"/>
            <a:r>
              <a:rPr lang="en-US" b="1" dirty="0"/>
              <a:t>Balanced Accuracy:</a:t>
            </a:r>
            <a:r>
              <a:rPr lang="en-US" dirty="0"/>
              <a:t> 98.39%</a:t>
            </a:r>
          </a:p>
          <a:p>
            <a:pPr lvl="1"/>
            <a:r>
              <a:rPr lang="en-US" b="1" dirty="0"/>
              <a:t>Macro F1-score:</a:t>
            </a:r>
            <a:r>
              <a:rPr lang="en-US" dirty="0"/>
              <a:t> 0.9211</a:t>
            </a:r>
            <a:endParaRPr lang="en-US" b="1" dirty="0"/>
          </a:p>
          <a:p>
            <a:r>
              <a:rPr lang="en-US" b="1" dirty="0"/>
              <a:t>Observations:</a:t>
            </a:r>
          </a:p>
          <a:p>
            <a:pPr lvl="1"/>
            <a:r>
              <a:rPr lang="en-US" dirty="0"/>
              <a:t>High precision and recall across most classes</a:t>
            </a:r>
          </a:p>
          <a:p>
            <a:pPr lvl="1"/>
            <a:r>
              <a:rPr lang="en-US" dirty="0"/>
              <a:t>Minor confusion between adjacent severity stages</a:t>
            </a:r>
          </a:p>
          <a:p>
            <a:pPr lvl="1"/>
            <a:r>
              <a:rPr lang="en-US" dirty="0"/>
              <a:t>Lower precision in underrepresented class due to small sample size</a:t>
            </a:r>
          </a:p>
        </p:txBody>
      </p:sp>
    </p:spTree>
    <p:extLst>
      <p:ext uri="{BB962C8B-B14F-4D97-AF65-F5344CB8AC3E}">
        <p14:creationId xmlns:p14="http://schemas.microsoft.com/office/powerpoint/2010/main" val="1167188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6FBA4-E032-8657-1C22-4107DD02F180}"/>
              </a:ext>
            </a:extLst>
          </p:cNvPr>
          <p:cNvSpPr>
            <a:spLocks noGrp="1"/>
          </p:cNvSpPr>
          <p:nvPr>
            <p:ph type="title"/>
          </p:nvPr>
        </p:nvSpPr>
        <p:spPr/>
        <p:txBody>
          <a:bodyPr/>
          <a:lstStyle/>
          <a:p>
            <a:r>
              <a:rPr lang="en-US" dirty="0"/>
              <a:t>Explainability &amp; Interpretability</a:t>
            </a:r>
          </a:p>
        </p:txBody>
      </p:sp>
      <p:sp>
        <p:nvSpPr>
          <p:cNvPr id="3" name="Content Placeholder 2">
            <a:extLst>
              <a:ext uri="{FF2B5EF4-FFF2-40B4-BE49-F238E27FC236}">
                <a16:creationId xmlns:a16="http://schemas.microsoft.com/office/drawing/2014/main" id="{60E05F12-08F2-5710-D5A0-4D9F3C3B16F9}"/>
              </a:ext>
            </a:extLst>
          </p:cNvPr>
          <p:cNvSpPr>
            <a:spLocks noGrp="1"/>
          </p:cNvSpPr>
          <p:nvPr>
            <p:ph idx="1"/>
          </p:nvPr>
        </p:nvSpPr>
        <p:spPr/>
        <p:txBody>
          <a:bodyPr/>
          <a:lstStyle/>
          <a:p>
            <a:r>
              <a:rPr lang="en-US" dirty="0"/>
              <a:t>CNN learns spatial brain patterns from MRI scans</a:t>
            </a:r>
          </a:p>
          <a:p>
            <a:r>
              <a:rPr lang="en-US" dirty="0" err="1"/>
              <a:t>DenseNet’s</a:t>
            </a:r>
            <a:r>
              <a:rPr lang="en-US" dirty="0"/>
              <a:t> deep feature reuse improves robustness</a:t>
            </a:r>
          </a:p>
          <a:p>
            <a:r>
              <a:rPr lang="en-US" dirty="0"/>
              <a:t>Confusion matrix shows:</a:t>
            </a:r>
          </a:p>
          <a:p>
            <a:pPr lvl="1"/>
            <a:r>
              <a:rPr lang="en-US" dirty="0"/>
              <a:t>Strong true-positive rates</a:t>
            </a:r>
          </a:p>
          <a:p>
            <a:pPr lvl="1"/>
            <a:r>
              <a:rPr lang="en-US" dirty="0"/>
              <a:t>Errors mostly between neighboring disease stages</a:t>
            </a:r>
          </a:p>
          <a:p>
            <a:r>
              <a:rPr lang="en-US" dirty="0"/>
              <a:t>Misclassifications reflect real-world diagnostic difficulty in progressive conditions</a:t>
            </a:r>
          </a:p>
        </p:txBody>
      </p:sp>
    </p:spTree>
    <p:extLst>
      <p:ext uri="{BB962C8B-B14F-4D97-AF65-F5344CB8AC3E}">
        <p14:creationId xmlns:p14="http://schemas.microsoft.com/office/powerpoint/2010/main" val="1394297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0B937-CC75-D473-1049-342791CF46DE}"/>
              </a:ext>
            </a:extLst>
          </p:cNvPr>
          <p:cNvSpPr>
            <a:spLocks noGrp="1"/>
          </p:cNvSpPr>
          <p:nvPr>
            <p:ph type="title"/>
          </p:nvPr>
        </p:nvSpPr>
        <p:spPr/>
        <p:txBody>
          <a:bodyPr/>
          <a:lstStyle/>
          <a:p>
            <a:r>
              <a:rPr lang="en-US" dirty="0"/>
              <a:t>Innovation &amp; Creativity</a:t>
            </a:r>
          </a:p>
        </p:txBody>
      </p:sp>
      <p:sp>
        <p:nvSpPr>
          <p:cNvPr id="3" name="Content Placeholder 2">
            <a:extLst>
              <a:ext uri="{FF2B5EF4-FFF2-40B4-BE49-F238E27FC236}">
                <a16:creationId xmlns:a16="http://schemas.microsoft.com/office/drawing/2014/main" id="{ED98CDE9-F256-CB4E-1CBB-E12476EF377C}"/>
              </a:ext>
            </a:extLst>
          </p:cNvPr>
          <p:cNvSpPr>
            <a:spLocks noGrp="1"/>
          </p:cNvSpPr>
          <p:nvPr>
            <p:ph idx="1"/>
          </p:nvPr>
        </p:nvSpPr>
        <p:spPr>
          <a:xfrm>
            <a:off x="612647" y="1337733"/>
            <a:ext cx="10653579" cy="4971627"/>
          </a:xfrm>
        </p:spPr>
        <p:txBody>
          <a:bodyPr/>
          <a:lstStyle/>
          <a:p>
            <a:r>
              <a:rPr lang="en-US" dirty="0"/>
              <a:t>Byte-stream MRI reconstruction from Parquet data</a:t>
            </a:r>
          </a:p>
          <a:p>
            <a:r>
              <a:rPr lang="en-US" dirty="0"/>
              <a:t>Comparison of custom CNN vs. transfer learning</a:t>
            </a:r>
          </a:p>
          <a:p>
            <a:r>
              <a:rPr lang="en-US" dirty="0"/>
              <a:t>Advanced training techniques:</a:t>
            </a:r>
          </a:p>
          <a:p>
            <a:pPr lvl="1"/>
            <a:r>
              <a:rPr lang="en-US" dirty="0"/>
              <a:t>Label smoothing</a:t>
            </a:r>
          </a:p>
          <a:p>
            <a:pPr lvl="1"/>
            <a:r>
              <a:rPr lang="en-US" dirty="0"/>
              <a:t>Mixed precision training</a:t>
            </a:r>
          </a:p>
          <a:p>
            <a:pPr lvl="1"/>
            <a:r>
              <a:rPr lang="en-US" dirty="0"/>
              <a:t>One-cycle learning rate scheduling</a:t>
            </a:r>
          </a:p>
          <a:p>
            <a:r>
              <a:rPr lang="en-US" dirty="0"/>
              <a:t>Focus on </a:t>
            </a:r>
            <a:r>
              <a:rPr lang="en-US" b="1" dirty="0"/>
              <a:t>balanced metrics</a:t>
            </a:r>
            <a:r>
              <a:rPr lang="en-US" dirty="0"/>
              <a:t>, not just accuracy</a:t>
            </a:r>
          </a:p>
        </p:txBody>
      </p:sp>
    </p:spTree>
    <p:extLst>
      <p:ext uri="{BB962C8B-B14F-4D97-AF65-F5344CB8AC3E}">
        <p14:creationId xmlns:p14="http://schemas.microsoft.com/office/powerpoint/2010/main" val="203532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CE637-9EF3-B1DC-1C87-842E5D2BB7C2}"/>
              </a:ext>
            </a:extLst>
          </p:cNvPr>
          <p:cNvSpPr>
            <a:spLocks noGrp="1"/>
          </p:cNvSpPr>
          <p:nvPr>
            <p:ph type="title"/>
          </p:nvPr>
        </p:nvSpPr>
        <p:spPr/>
        <p:txBody>
          <a:bodyPr/>
          <a:lstStyle/>
          <a:p>
            <a:r>
              <a:rPr lang="en-US" dirty="0"/>
              <a:t>Code Quality &amp; Reproducibility</a:t>
            </a:r>
          </a:p>
        </p:txBody>
      </p:sp>
      <p:sp>
        <p:nvSpPr>
          <p:cNvPr id="3" name="Content Placeholder 2">
            <a:extLst>
              <a:ext uri="{FF2B5EF4-FFF2-40B4-BE49-F238E27FC236}">
                <a16:creationId xmlns:a16="http://schemas.microsoft.com/office/drawing/2014/main" id="{BC7089ED-1EFA-2A1D-CF7C-1B4DC478FAE5}"/>
              </a:ext>
            </a:extLst>
          </p:cNvPr>
          <p:cNvSpPr>
            <a:spLocks noGrp="1"/>
          </p:cNvSpPr>
          <p:nvPr>
            <p:ph idx="1"/>
          </p:nvPr>
        </p:nvSpPr>
        <p:spPr/>
        <p:txBody>
          <a:bodyPr/>
          <a:lstStyle/>
          <a:p>
            <a:r>
              <a:rPr lang="en-US" dirty="0"/>
              <a:t>Modular, well-documented </a:t>
            </a:r>
            <a:r>
              <a:rPr lang="en-US" dirty="0" err="1"/>
              <a:t>PyTorch</a:t>
            </a:r>
            <a:r>
              <a:rPr lang="en-US" dirty="0"/>
              <a:t> pipeline</a:t>
            </a:r>
          </a:p>
          <a:p>
            <a:r>
              <a:rPr lang="en-US" dirty="0"/>
              <a:t>Configuration class for hyperparameters</a:t>
            </a:r>
          </a:p>
          <a:p>
            <a:r>
              <a:rPr lang="en-US" dirty="0"/>
              <a:t>Fully reproducible training and evaluation</a:t>
            </a:r>
          </a:p>
          <a:p>
            <a:r>
              <a:rPr lang="en-US" dirty="0"/>
              <a:t>Outputs include:</a:t>
            </a:r>
          </a:p>
          <a:p>
            <a:pPr lvl="1"/>
            <a:r>
              <a:rPr lang="en-US" dirty="0"/>
              <a:t>Trained model weights</a:t>
            </a:r>
          </a:p>
          <a:p>
            <a:pPr lvl="1"/>
            <a:r>
              <a:rPr lang="en-US" dirty="0"/>
              <a:t>Classification reports</a:t>
            </a:r>
          </a:p>
          <a:p>
            <a:pPr lvl="1"/>
            <a:r>
              <a:rPr lang="en-US" dirty="0"/>
              <a:t>Confusion matrices</a:t>
            </a:r>
          </a:p>
        </p:txBody>
      </p:sp>
    </p:spTree>
    <p:extLst>
      <p:ext uri="{BB962C8B-B14F-4D97-AF65-F5344CB8AC3E}">
        <p14:creationId xmlns:p14="http://schemas.microsoft.com/office/powerpoint/2010/main" val="418586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C8AB2-5E0B-7600-CC1B-F3A7A30CB944}"/>
              </a:ext>
            </a:extLst>
          </p:cNvPr>
          <p:cNvSpPr>
            <a:spLocks noGrp="1"/>
          </p:cNvSpPr>
          <p:nvPr>
            <p:ph type="title"/>
          </p:nvPr>
        </p:nvSpPr>
        <p:spPr>
          <a:xfrm>
            <a:off x="612648" y="548640"/>
            <a:ext cx="10653578" cy="602827"/>
          </a:xfrm>
        </p:spPr>
        <p:txBody>
          <a:bodyPr/>
          <a:lstStyle/>
          <a:p>
            <a:r>
              <a:rPr lang="en-US" dirty="0"/>
              <a:t>Model Comparison</a:t>
            </a:r>
          </a:p>
        </p:txBody>
      </p:sp>
      <p:graphicFrame>
        <p:nvGraphicFramePr>
          <p:cNvPr id="4" name="Content Placeholder 3">
            <a:extLst>
              <a:ext uri="{FF2B5EF4-FFF2-40B4-BE49-F238E27FC236}">
                <a16:creationId xmlns:a16="http://schemas.microsoft.com/office/drawing/2014/main" id="{FE27D435-11D1-1207-3BC8-A26CC2F2538B}"/>
              </a:ext>
            </a:extLst>
          </p:cNvPr>
          <p:cNvGraphicFramePr>
            <a:graphicFrameLocks noGrp="1"/>
          </p:cNvGraphicFramePr>
          <p:nvPr>
            <p:ph idx="1"/>
            <p:extLst>
              <p:ext uri="{D42A27DB-BD31-4B8C-83A1-F6EECF244321}">
                <p14:modId xmlns:p14="http://schemas.microsoft.com/office/powerpoint/2010/main" val="2107788113"/>
              </p:ext>
            </p:extLst>
          </p:nvPr>
        </p:nvGraphicFramePr>
        <p:xfrm>
          <a:off x="612647" y="3725332"/>
          <a:ext cx="9513486" cy="2760135"/>
        </p:xfrm>
        <a:graphic>
          <a:graphicData uri="http://schemas.openxmlformats.org/drawingml/2006/table">
            <a:tbl>
              <a:tblPr>
                <a:tableStyleId>{5C22544A-7EE6-4342-B048-85BDC9FD1C3A}</a:tableStyleId>
              </a:tblPr>
              <a:tblGrid>
                <a:gridCol w="1876633">
                  <a:extLst>
                    <a:ext uri="{9D8B030D-6E8A-4147-A177-3AD203B41FA5}">
                      <a16:colId xmlns:a16="http://schemas.microsoft.com/office/drawing/2014/main" val="1233026056"/>
                    </a:ext>
                  </a:extLst>
                </a:gridCol>
                <a:gridCol w="1251089">
                  <a:extLst>
                    <a:ext uri="{9D8B030D-6E8A-4147-A177-3AD203B41FA5}">
                      <a16:colId xmlns:a16="http://schemas.microsoft.com/office/drawing/2014/main" val="1835005571"/>
                    </a:ext>
                  </a:extLst>
                </a:gridCol>
                <a:gridCol w="1251089">
                  <a:extLst>
                    <a:ext uri="{9D8B030D-6E8A-4147-A177-3AD203B41FA5}">
                      <a16:colId xmlns:a16="http://schemas.microsoft.com/office/drawing/2014/main" val="2890570094"/>
                    </a:ext>
                  </a:extLst>
                </a:gridCol>
                <a:gridCol w="1850568">
                  <a:extLst>
                    <a:ext uri="{9D8B030D-6E8A-4147-A177-3AD203B41FA5}">
                      <a16:colId xmlns:a16="http://schemas.microsoft.com/office/drawing/2014/main" val="3106893322"/>
                    </a:ext>
                  </a:extLst>
                </a:gridCol>
                <a:gridCol w="3284107">
                  <a:extLst>
                    <a:ext uri="{9D8B030D-6E8A-4147-A177-3AD203B41FA5}">
                      <a16:colId xmlns:a16="http://schemas.microsoft.com/office/drawing/2014/main" val="2402257998"/>
                    </a:ext>
                  </a:extLst>
                </a:gridCol>
              </a:tblGrid>
              <a:tr h="695800">
                <a:tc>
                  <a:txBody>
                    <a:bodyPr/>
                    <a:lstStyle/>
                    <a:p>
                      <a:pPr algn="ctr" fontAlgn="ctr">
                        <a:buNone/>
                      </a:pPr>
                      <a:r>
                        <a:rPr lang="en-US" sz="1100" u="none" strike="noStrike">
                          <a:effectLst/>
                        </a:rPr>
                        <a:t>Model</a:t>
                      </a:r>
                      <a:endParaRPr lang="en-US" sz="11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US" sz="1100" u="none" strike="noStrike" dirty="0">
                          <a:effectLst/>
                        </a:rPr>
                        <a:t>Accuracy</a:t>
                      </a:r>
                      <a:endParaRPr lang="en-US"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US" sz="1100" u="none" strike="noStrike">
                          <a:effectLst/>
                        </a:rPr>
                        <a:t>Macro F1</a:t>
                      </a:r>
                      <a:endParaRPr lang="en-US" sz="11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US" sz="1100" u="none" strike="noStrike">
                          <a:effectLst/>
                        </a:rPr>
                        <a:t>Balanced Acc</a:t>
                      </a:r>
                      <a:endParaRPr lang="en-US" sz="11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US" sz="1100" u="none" strike="noStrike">
                          <a:effectLst/>
                        </a:rPr>
                        <a:t>Strength</a:t>
                      </a:r>
                      <a:endParaRPr lang="en-US" sz="1100" b="1"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65169982"/>
                  </a:ext>
                </a:extLst>
              </a:tr>
              <a:tr h="672735">
                <a:tc>
                  <a:txBody>
                    <a:bodyPr/>
                    <a:lstStyle/>
                    <a:p>
                      <a:pPr algn="ctr" fontAlgn="ctr">
                        <a:buNone/>
                      </a:pPr>
                      <a:r>
                        <a:rPr lang="en-US" sz="1100" u="none" strike="noStrike">
                          <a:effectLst/>
                        </a:rPr>
                        <a:t>Simple CNN</a:t>
                      </a:r>
                      <a:endParaRPr lang="en-US" sz="11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US" sz="1100" u="none" strike="noStrike">
                          <a:effectLst/>
                        </a:rPr>
                        <a:t>97.60%</a:t>
                      </a:r>
                      <a:endParaRPr lang="en-US" sz="11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US" sz="1100" u="none" strike="noStrike">
                          <a:effectLst/>
                        </a:rPr>
                        <a:t>~0.89*</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US" sz="1100" u="none" strike="noStrike">
                          <a:effectLst/>
                        </a:rPr>
                        <a:t>~0.98*</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US" sz="1100" u="none" strike="noStrike">
                          <a:effectLst/>
                        </a:rPr>
                        <a:t>Strong baseline</a:t>
                      </a:r>
                      <a:endParaRPr lang="en-US"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99574166"/>
                  </a:ext>
                </a:extLst>
              </a:tr>
              <a:tr h="695800">
                <a:tc>
                  <a:txBody>
                    <a:bodyPr/>
                    <a:lstStyle/>
                    <a:p>
                      <a:pPr algn="ctr" fontAlgn="ctr">
                        <a:buNone/>
                      </a:pPr>
                      <a:r>
                        <a:rPr lang="en-US" sz="1100" u="none" strike="noStrike">
                          <a:effectLst/>
                        </a:rPr>
                        <a:t>DenseNet121</a:t>
                      </a:r>
                      <a:endParaRPr lang="en-US" sz="11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US" sz="1100" u="none" strike="noStrike">
                          <a:effectLst/>
                        </a:rPr>
                        <a:t>~96–97%</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US" sz="1100" u="none" strike="noStrike">
                          <a:effectLst/>
                        </a:rPr>
                        <a:t>0.92</a:t>
                      </a:r>
                      <a:endParaRPr lang="en-US" sz="11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US" sz="1100" u="none" strike="noStrike">
                          <a:effectLst/>
                        </a:rPr>
                        <a:t>0.98</a:t>
                      </a:r>
                      <a:endParaRPr lang="en-US" sz="11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US" sz="1100" u="none" strike="noStrike">
                          <a:effectLst/>
                        </a:rPr>
                        <a:t>Best overall balance</a:t>
                      </a:r>
                      <a:endParaRPr lang="en-US"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57778353"/>
                  </a:ext>
                </a:extLst>
              </a:tr>
              <a:tr h="695800">
                <a:tc>
                  <a:txBody>
                    <a:bodyPr/>
                    <a:lstStyle/>
                    <a:p>
                      <a:pPr algn="ctr" fontAlgn="ctr">
                        <a:buNone/>
                      </a:pPr>
                      <a:r>
                        <a:rPr lang="en-US" sz="1100" u="none" strike="noStrike">
                          <a:effectLst/>
                        </a:rPr>
                        <a:t>VGG19</a:t>
                      </a:r>
                      <a:endParaRPr lang="en-US" sz="11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US" sz="1100" u="none" strike="noStrike">
                          <a:effectLst/>
                        </a:rPr>
                        <a:t>95.30%</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US" sz="1100" u="none" strike="noStrike">
                          <a:effectLst/>
                        </a:rPr>
                        <a:t>0.85</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US" sz="1100" u="none" strike="noStrike" dirty="0">
                          <a:effectLst/>
                        </a:rPr>
                        <a:t>0.94</a:t>
                      </a:r>
                      <a:endParaRPr lang="en-U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US" sz="1100" u="none" strike="noStrike" dirty="0">
                          <a:effectLst/>
                        </a:rPr>
                        <a:t>High recall for early stage</a:t>
                      </a:r>
                      <a:endParaRPr lang="en-U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15381676"/>
                  </a:ext>
                </a:extLst>
              </a:tr>
            </a:tbl>
          </a:graphicData>
        </a:graphic>
      </p:graphicFrame>
      <p:sp>
        <p:nvSpPr>
          <p:cNvPr id="6" name="TextBox 5">
            <a:extLst>
              <a:ext uri="{FF2B5EF4-FFF2-40B4-BE49-F238E27FC236}">
                <a16:creationId xmlns:a16="http://schemas.microsoft.com/office/drawing/2014/main" id="{A16463CF-4261-9A58-E55D-99A5F447875C}"/>
              </a:ext>
            </a:extLst>
          </p:cNvPr>
          <p:cNvSpPr txBox="1"/>
          <p:nvPr/>
        </p:nvSpPr>
        <p:spPr>
          <a:xfrm>
            <a:off x="612647" y="1151466"/>
            <a:ext cx="10653577" cy="2308324"/>
          </a:xfrm>
          <a:prstGeom prst="rect">
            <a:avLst/>
          </a:prstGeom>
          <a:noFill/>
        </p:spPr>
        <p:txBody>
          <a:bodyPr wrap="square">
            <a:spAutoFit/>
          </a:bodyPr>
          <a:lstStyle/>
          <a:p>
            <a:pPr marL="285750" indent="-285750" algn="just">
              <a:buFont typeface="Arial" panose="020B0604020202020204" pitchFamily="34" charset="0"/>
              <a:buChar char="•"/>
            </a:pPr>
            <a:r>
              <a:rPr lang="en-US" dirty="0"/>
              <a:t>We evaluated three architectures to understand trade-offs, not just accuracy.</a:t>
            </a:r>
          </a:p>
          <a:p>
            <a:pPr marL="285750" indent="-285750" algn="just">
              <a:buFont typeface="Arial" panose="020B0604020202020204" pitchFamily="34" charset="0"/>
              <a:buChar char="•"/>
            </a:pPr>
            <a:r>
              <a:rPr lang="en-US" dirty="0"/>
              <a:t>VGG19 achieved strong overall accuracy and excellent recall for early Alzheimer’s detection.</a:t>
            </a:r>
          </a:p>
          <a:p>
            <a:pPr marL="285750" indent="-285750" algn="just">
              <a:buFont typeface="Arial" panose="020B0604020202020204" pitchFamily="34" charset="0"/>
              <a:buChar char="•"/>
            </a:pPr>
            <a:r>
              <a:rPr lang="en-US" dirty="0"/>
              <a:t>However, DenseNet121 provided the best balance across all disease stages.</a:t>
            </a:r>
          </a:p>
          <a:p>
            <a:pPr marL="285750" indent="-285750" algn="just">
              <a:buFont typeface="Arial" panose="020B0604020202020204" pitchFamily="34" charset="0"/>
              <a:buChar char="•"/>
            </a:pPr>
            <a:r>
              <a:rPr lang="en-US" dirty="0"/>
              <a:t>This highlights an important clinical trade-off between sensitivity and specificity.</a:t>
            </a:r>
          </a:p>
          <a:p>
            <a:pPr marL="285750" indent="-285750" algn="just">
              <a:buFont typeface="Arial" panose="020B0604020202020204" pitchFamily="34" charset="0"/>
              <a:buChar char="•"/>
            </a:pPr>
            <a:r>
              <a:rPr lang="en-US" dirty="0"/>
              <a:t>While VGG19 favored sensitivity for early-stage Alzheimer’s, DenseNet121 achieved superior class balance and robustness, making it the most clinically reliable model overall.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6651969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FEE4A-43C9-D36F-16B4-290471BE801B}"/>
              </a:ext>
            </a:extLst>
          </p:cNvPr>
          <p:cNvSpPr>
            <a:spLocks noGrp="1"/>
          </p:cNvSpPr>
          <p:nvPr>
            <p:ph type="title"/>
          </p:nvPr>
        </p:nvSpPr>
        <p:spPr/>
        <p:txBody>
          <a:bodyPr/>
          <a:lstStyle/>
          <a:p>
            <a:r>
              <a:rPr lang="en-US" dirty="0"/>
              <a:t>Explainability via ResNet50 and Grad-CAM</a:t>
            </a:r>
          </a:p>
        </p:txBody>
      </p:sp>
      <p:sp>
        <p:nvSpPr>
          <p:cNvPr id="3" name="Content Placeholder 2">
            <a:extLst>
              <a:ext uri="{FF2B5EF4-FFF2-40B4-BE49-F238E27FC236}">
                <a16:creationId xmlns:a16="http://schemas.microsoft.com/office/drawing/2014/main" id="{CDC8CE0A-B4F6-2323-0D15-FDD31E7E790B}"/>
              </a:ext>
            </a:extLst>
          </p:cNvPr>
          <p:cNvSpPr>
            <a:spLocks noGrp="1"/>
          </p:cNvSpPr>
          <p:nvPr>
            <p:ph idx="1"/>
          </p:nvPr>
        </p:nvSpPr>
        <p:spPr/>
        <p:txBody>
          <a:bodyPr/>
          <a:lstStyle/>
          <a:p>
            <a:pPr algn="just"/>
            <a:r>
              <a:rPr lang="en-US" dirty="0"/>
              <a:t>To illustrate the regions of the brain MRI scans that contribute most to the model’s predictions, we applied a ResNet50 convolutional neural network with Grad-CAM. Although DenseNet121 yielded the highest classification performance, ResNet50 was used specifically for explainability due to its simpler architecture, which allows stable gradient-based localization. Grad-CAM generates heatmaps overlaid on the original MRIs, highlighting the areas that most strongly influenced the network’s decisions. This provides interpretable insights into the spatial features driving the classification, complementing the high predictive performance of the </a:t>
            </a:r>
            <a:r>
              <a:rPr lang="en-US" dirty="0" err="1"/>
              <a:t>DenseNet</a:t>
            </a:r>
            <a:r>
              <a:rPr lang="en-US" dirty="0"/>
              <a:t> model.</a:t>
            </a:r>
          </a:p>
        </p:txBody>
      </p:sp>
    </p:spTree>
    <p:extLst>
      <p:ext uri="{BB962C8B-B14F-4D97-AF65-F5344CB8AC3E}">
        <p14:creationId xmlns:p14="http://schemas.microsoft.com/office/powerpoint/2010/main" val="3897113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69A60-F440-3759-F25E-1AE491355CF1}"/>
              </a:ext>
            </a:extLst>
          </p:cNvPr>
          <p:cNvSpPr>
            <a:spLocks noGrp="1"/>
          </p:cNvSpPr>
          <p:nvPr>
            <p:ph type="title"/>
          </p:nvPr>
        </p:nvSpPr>
        <p:spPr/>
        <p:txBody>
          <a:bodyPr/>
          <a:lstStyle/>
          <a:p>
            <a:r>
              <a:rPr lang="en-US" dirty="0"/>
              <a:t>Impact &amp; Applications</a:t>
            </a:r>
          </a:p>
        </p:txBody>
      </p:sp>
      <p:sp>
        <p:nvSpPr>
          <p:cNvPr id="3" name="Content Placeholder 2">
            <a:extLst>
              <a:ext uri="{FF2B5EF4-FFF2-40B4-BE49-F238E27FC236}">
                <a16:creationId xmlns:a16="http://schemas.microsoft.com/office/drawing/2014/main" id="{A0C598F9-057D-AE45-B5F2-6061B9037A96}"/>
              </a:ext>
            </a:extLst>
          </p:cNvPr>
          <p:cNvSpPr>
            <a:spLocks noGrp="1"/>
          </p:cNvSpPr>
          <p:nvPr>
            <p:ph idx="1"/>
          </p:nvPr>
        </p:nvSpPr>
        <p:spPr/>
        <p:txBody>
          <a:bodyPr/>
          <a:lstStyle/>
          <a:p>
            <a:pPr>
              <a:buFont typeface="Wingdings" panose="05000000000000000000" pitchFamily="2" charset="2"/>
              <a:buChar char="§"/>
            </a:pPr>
            <a:r>
              <a:rPr lang="en-US" dirty="0"/>
              <a:t>Supports clinicians with early-stage Alzheimer’s detection</a:t>
            </a:r>
          </a:p>
          <a:p>
            <a:r>
              <a:rPr lang="en-US" dirty="0"/>
              <a:t>Reduces diagnostic subjectivity</a:t>
            </a:r>
          </a:p>
          <a:p>
            <a:r>
              <a:rPr lang="en-US" dirty="0"/>
              <a:t>Scalable and adaptable to other neurodegenerative diseases</a:t>
            </a:r>
          </a:p>
          <a:p>
            <a:r>
              <a:rPr lang="en-US" dirty="0"/>
              <a:t>Potential integration into clinical decision support systems</a:t>
            </a:r>
          </a:p>
        </p:txBody>
      </p:sp>
    </p:spTree>
    <p:extLst>
      <p:ext uri="{BB962C8B-B14F-4D97-AF65-F5344CB8AC3E}">
        <p14:creationId xmlns:p14="http://schemas.microsoft.com/office/powerpoint/2010/main" val="1723697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DFC47-7E5D-6F95-F0C9-0580AAD82F7D}"/>
              </a:ext>
            </a:extLst>
          </p:cNvPr>
          <p:cNvSpPr>
            <a:spLocks noGrp="1"/>
          </p:cNvSpPr>
          <p:nvPr>
            <p:ph type="title"/>
          </p:nvPr>
        </p:nvSpPr>
        <p:spPr/>
        <p:txBody>
          <a:bodyPr/>
          <a:lstStyle/>
          <a:p>
            <a:r>
              <a:rPr lang="en-US" dirty="0"/>
              <a:t>Limitations &amp; Future Work</a:t>
            </a:r>
          </a:p>
        </p:txBody>
      </p:sp>
      <p:sp>
        <p:nvSpPr>
          <p:cNvPr id="3" name="Content Placeholder 2">
            <a:extLst>
              <a:ext uri="{FF2B5EF4-FFF2-40B4-BE49-F238E27FC236}">
                <a16:creationId xmlns:a16="http://schemas.microsoft.com/office/drawing/2014/main" id="{E4E2EF31-F547-6813-083C-00C887B880D5}"/>
              </a:ext>
            </a:extLst>
          </p:cNvPr>
          <p:cNvSpPr>
            <a:spLocks noGrp="1"/>
          </p:cNvSpPr>
          <p:nvPr>
            <p:ph idx="1"/>
          </p:nvPr>
        </p:nvSpPr>
        <p:spPr/>
        <p:txBody>
          <a:bodyPr/>
          <a:lstStyle/>
          <a:p>
            <a:r>
              <a:rPr lang="en-US" dirty="0"/>
              <a:t>Limited data for certain disease stages</a:t>
            </a:r>
          </a:p>
          <a:p>
            <a:r>
              <a:rPr lang="en-US" dirty="0"/>
              <a:t>Future improvements:</a:t>
            </a:r>
          </a:p>
          <a:p>
            <a:pPr lvl="1"/>
            <a:r>
              <a:rPr lang="en-US" dirty="0"/>
              <a:t>Larger and more balanced datasets</a:t>
            </a:r>
          </a:p>
          <a:p>
            <a:pPr lvl="1"/>
            <a:r>
              <a:rPr lang="en-US" dirty="0"/>
              <a:t>Explainability methods (e.g., Grad-CAM)</a:t>
            </a:r>
          </a:p>
          <a:p>
            <a:pPr lvl="1"/>
            <a:r>
              <a:rPr lang="it-IT" dirty="0"/>
              <a:t>Multi-modal data (MRI + clinical biomarkers)</a:t>
            </a:r>
          </a:p>
          <a:p>
            <a:pPr lvl="1"/>
            <a:r>
              <a:rPr lang="en-US" dirty="0"/>
              <a:t>Longitudinal disease progression modeling</a:t>
            </a:r>
          </a:p>
        </p:txBody>
      </p:sp>
    </p:spTree>
    <p:extLst>
      <p:ext uri="{BB962C8B-B14F-4D97-AF65-F5344CB8AC3E}">
        <p14:creationId xmlns:p14="http://schemas.microsoft.com/office/powerpoint/2010/main" val="2042639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59F89-A639-A671-99B3-43DDB6E214FF}"/>
              </a:ext>
            </a:extLst>
          </p:cNvPr>
          <p:cNvSpPr>
            <a:spLocks noGrp="1"/>
          </p:cNvSpPr>
          <p:nvPr>
            <p:ph type="title"/>
          </p:nvPr>
        </p:nvSpPr>
        <p:spPr>
          <a:xfrm>
            <a:off x="612648" y="548640"/>
            <a:ext cx="10653578" cy="822960"/>
          </a:xfrm>
        </p:spPr>
        <p:txBody>
          <a:bodyPr/>
          <a:lstStyle/>
          <a:p>
            <a:r>
              <a:rPr lang="en-US" dirty="0"/>
              <a:t>Conclusion</a:t>
            </a:r>
          </a:p>
        </p:txBody>
      </p:sp>
      <p:sp>
        <p:nvSpPr>
          <p:cNvPr id="3" name="Content Placeholder 2">
            <a:extLst>
              <a:ext uri="{FF2B5EF4-FFF2-40B4-BE49-F238E27FC236}">
                <a16:creationId xmlns:a16="http://schemas.microsoft.com/office/drawing/2014/main" id="{4F93CC56-52E2-35B7-02C9-E4BB5FE47B4B}"/>
              </a:ext>
            </a:extLst>
          </p:cNvPr>
          <p:cNvSpPr>
            <a:spLocks noGrp="1"/>
          </p:cNvSpPr>
          <p:nvPr>
            <p:ph idx="1"/>
          </p:nvPr>
        </p:nvSpPr>
        <p:spPr/>
        <p:txBody>
          <a:bodyPr/>
          <a:lstStyle/>
          <a:p>
            <a:r>
              <a:rPr lang="en-US" dirty="0"/>
              <a:t>Deep learning is highly effective for Alzheimer’s stage classification</a:t>
            </a:r>
          </a:p>
          <a:p>
            <a:r>
              <a:rPr lang="en-US" dirty="0"/>
              <a:t>Transfer learning significantly improves robustness</a:t>
            </a:r>
          </a:p>
          <a:p>
            <a:r>
              <a:rPr lang="en-US" dirty="0"/>
              <a:t>Achieved high accuracy and balanced performance</a:t>
            </a:r>
          </a:p>
          <a:p>
            <a:r>
              <a:rPr lang="en-US" dirty="0"/>
              <a:t>Demonstrates strong potential for real-world clinical support</a:t>
            </a:r>
          </a:p>
        </p:txBody>
      </p:sp>
    </p:spTree>
    <p:extLst>
      <p:ext uri="{BB962C8B-B14F-4D97-AF65-F5344CB8AC3E}">
        <p14:creationId xmlns:p14="http://schemas.microsoft.com/office/powerpoint/2010/main" val="39287653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0DB6A-13DD-9A81-540E-1EDBDB52D8BC}"/>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67246E54-CB14-9C37-B837-4C60A5076733}"/>
              </a:ext>
            </a:extLst>
          </p:cNvPr>
          <p:cNvSpPr>
            <a:spLocks noGrp="1"/>
          </p:cNvSpPr>
          <p:nvPr>
            <p:ph idx="1"/>
          </p:nvPr>
        </p:nvSpPr>
        <p:spPr/>
        <p:txBody>
          <a:bodyPr/>
          <a:lstStyle/>
          <a:p>
            <a:r>
              <a:rPr lang="en-US" dirty="0" err="1"/>
              <a:t>MRI_Alzheimers_Densenet_Primary_File</a:t>
            </a:r>
            <a:r>
              <a:rPr lang="en-US" dirty="0"/>
              <a:t> – This is the main file where CNN model is developed and DenseNet121 is used to get the results.</a:t>
            </a:r>
          </a:p>
          <a:p>
            <a:r>
              <a:rPr lang="en-US" dirty="0"/>
              <a:t>VGG19_Models – This is the file where VGG19 model is used to compare the models.</a:t>
            </a:r>
          </a:p>
          <a:p>
            <a:r>
              <a:rPr lang="en-US" dirty="0" err="1"/>
              <a:t>ResetNet</a:t>
            </a:r>
            <a:r>
              <a:rPr lang="en-US" dirty="0"/>
              <a:t> and </a:t>
            </a:r>
            <a:r>
              <a:rPr lang="en-US" dirty="0" err="1"/>
              <a:t>GradCAM</a:t>
            </a:r>
            <a:r>
              <a:rPr lang="en-US" dirty="0"/>
              <a:t> – This file is used for </a:t>
            </a:r>
            <a:r>
              <a:rPr lang="en-US" dirty="0" err="1"/>
              <a:t>ResetNet</a:t>
            </a:r>
            <a:r>
              <a:rPr lang="en-US" dirty="0"/>
              <a:t> Model and GRAD CAM </a:t>
            </a:r>
            <a:r>
              <a:rPr lang="en-US" dirty="0" err="1"/>
              <a:t>implemetation</a:t>
            </a:r>
            <a:endParaRPr lang="en-US" dirty="0"/>
          </a:p>
        </p:txBody>
      </p:sp>
    </p:spTree>
    <p:extLst>
      <p:ext uri="{BB962C8B-B14F-4D97-AF65-F5344CB8AC3E}">
        <p14:creationId xmlns:p14="http://schemas.microsoft.com/office/powerpoint/2010/main" val="1030245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EF608-4E4B-9B31-D52F-03792972861D}"/>
              </a:ext>
            </a:extLst>
          </p:cNvPr>
          <p:cNvSpPr>
            <a:spLocks noGrp="1"/>
          </p:cNvSpPr>
          <p:nvPr>
            <p:ph type="ctrTitle"/>
          </p:nvPr>
        </p:nvSpPr>
        <p:spPr>
          <a:xfrm>
            <a:off x="274320" y="1801368"/>
            <a:ext cx="7772400" cy="4572000"/>
          </a:xfrm>
        </p:spPr>
        <p:txBody>
          <a:bodyPr anchor="b">
            <a:normAutofit/>
          </a:bodyPr>
          <a:lstStyle/>
          <a:p>
            <a:r>
              <a:rPr lang="en-US" dirty="0"/>
              <a:t>                                  THANK YOU</a:t>
            </a:r>
          </a:p>
        </p:txBody>
      </p:sp>
    </p:spTree>
    <p:extLst>
      <p:ext uri="{BB962C8B-B14F-4D97-AF65-F5344CB8AC3E}">
        <p14:creationId xmlns:p14="http://schemas.microsoft.com/office/powerpoint/2010/main" val="1681254374"/>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D43F4A-02D5-42AD-9542-27487597C212}" vid="{14154C61-C2E2-42F2-9833-4EC39495D4C7}"/>
    </a:ext>
  </a:extLst>
</a:theme>
</file>

<file path=docProps/app.xml><?xml version="1.0" encoding="utf-8"?>
<Properties xmlns="http://schemas.openxmlformats.org/officeDocument/2006/extended-properties" xmlns:vt="http://schemas.openxmlformats.org/officeDocument/2006/docPropsVTypes">
  <Template>Organic</Template>
  <TotalTime>179</TotalTime>
  <Words>940</Words>
  <Application>Microsoft Office PowerPoint</Application>
  <PresentationFormat>Widescreen</PresentationFormat>
  <Paragraphs>172</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Neue Haas Grotesk Text Pro</vt:lpstr>
      <vt:lpstr>Wingdings</vt:lpstr>
      <vt:lpstr>Helena</vt:lpstr>
      <vt:lpstr>Hack4Health AI for Alzheimer's Challenge</vt:lpstr>
      <vt:lpstr>Contents</vt:lpstr>
      <vt:lpstr>Problem Motivation</vt:lpstr>
      <vt:lpstr>Project Objective</vt:lpstr>
      <vt:lpstr>Dataset &amp; Preprocessing</vt:lpstr>
      <vt:lpstr>Baseline Model – Simple CNN</vt:lpstr>
      <vt:lpstr>VGG19 Transfer Learning for Alzheimer’s Classification</vt:lpstr>
      <vt:lpstr>Advanced Model – DenseNet121</vt:lpstr>
      <vt:lpstr>Training Strategy</vt:lpstr>
      <vt:lpstr>Model Performance &amp; Results</vt:lpstr>
      <vt:lpstr>Explainability &amp; Interpretability</vt:lpstr>
      <vt:lpstr>Innovation &amp; Creativity</vt:lpstr>
      <vt:lpstr>Code Quality &amp; Reproducibility</vt:lpstr>
      <vt:lpstr>Model Comparison</vt:lpstr>
      <vt:lpstr>Explainability via ResNet50 and Grad-CAM</vt:lpstr>
      <vt:lpstr>Impact &amp; Applications</vt:lpstr>
      <vt:lpstr>Limitations &amp; Future Work</vt:lpstr>
      <vt:lpstr>Conclusion</vt:lpstr>
      <vt:lpstr>References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Subrata Roy</dc:creator>
  <cp:lastModifiedBy>Subrata Roy</cp:lastModifiedBy>
  <cp:revision>34</cp:revision>
  <dcterms:created xsi:type="dcterms:W3CDTF">2025-12-31T06:35:00Z</dcterms:created>
  <dcterms:modified xsi:type="dcterms:W3CDTF">2026-01-01T00:46:30Z</dcterms:modified>
</cp:coreProperties>
</file>